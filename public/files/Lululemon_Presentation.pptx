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75" r:id="rId7"/>
    <p:sldId id="258" r:id="rId8"/>
    <p:sldId id="259" r:id="rId9"/>
    <p:sldId id="260" r:id="rId10"/>
    <p:sldId id="273" r:id="rId11"/>
    <p:sldId id="261" r:id="rId12"/>
    <p:sldId id="262" r:id="rId13"/>
    <p:sldId id="274" r:id="rId14"/>
    <p:sldId id="279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893FA-29E9-8DA8-229B-8BABF0391E56}" v="945" dt="2026-04-07T02:27:29.635"/>
    <p1510:client id="{350B490F-7270-F94C-B3D8-503EB79DE298}" v="18" dt="2026-04-07T01:33:37.718"/>
    <p1510:client id="{638205CA-46F7-B609-C1E6-17C882C84295}" v="38" dt="2026-04-07T01:26:00.242"/>
    <p1510:client id="{64A7AA25-41E8-657F-2BEE-7CD4C4A1B40B}" v="2" dt="2026-04-06T19:37:08.760"/>
    <p1510:client id="{6C0A2F99-1FCF-3F34-E69D-17A4BF47538C}" v="8" dt="2026-04-07T18:00:19.473"/>
    <p1510:client id="{920EB791-0ACA-7FF5-2730-FF1746EE59B7}" v="5" dt="2026-04-07T17:27:31.842"/>
    <p1510:client id="{A4367BA9-926D-7C9A-2010-07A1461E3EB3}" v="146" dt="2026-04-07T01:18:46.916"/>
    <p1510:client id="{C751AA75-16CC-D570-5A1B-59CB2D283A1A}" v="50" dt="2026-04-07T15:44:22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94B00A-318D-46C1-B239-53E09AEAA1B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C81249-7770-4259-9CCC-3022657CD0F9}">
      <dgm:prSet/>
      <dgm:spPr/>
      <dgm:t>
        <a:bodyPr/>
        <a:lstStyle/>
        <a:p>
          <a:r>
            <a:rPr lang="en-US"/>
            <a:t>Income Statement Drivers &amp; Assumptions </a:t>
          </a:r>
        </a:p>
      </dgm:t>
    </dgm:pt>
    <dgm:pt modelId="{3FCA7937-5F8E-4C15-864D-EA32781A625E}" type="parTrans" cxnId="{85B7C6E6-0CC8-4E90-A815-82C6C9E8A3C5}">
      <dgm:prSet/>
      <dgm:spPr/>
      <dgm:t>
        <a:bodyPr/>
        <a:lstStyle/>
        <a:p>
          <a:endParaRPr lang="en-US"/>
        </a:p>
      </dgm:t>
    </dgm:pt>
    <dgm:pt modelId="{62582159-1DBA-4FF2-90C6-8D9C3E9BC96F}" type="sibTrans" cxnId="{85B7C6E6-0CC8-4E90-A815-82C6C9E8A3C5}">
      <dgm:prSet/>
      <dgm:spPr/>
      <dgm:t>
        <a:bodyPr/>
        <a:lstStyle/>
        <a:p>
          <a:endParaRPr lang="en-US"/>
        </a:p>
      </dgm:t>
    </dgm:pt>
    <dgm:pt modelId="{D30E68B2-9961-4010-B9A2-79E2193D0AA6}">
      <dgm:prSet/>
      <dgm:spPr/>
      <dgm:t>
        <a:bodyPr/>
        <a:lstStyle/>
        <a:p>
          <a:r>
            <a:rPr lang="en-US"/>
            <a:t>Income Statement </a:t>
          </a:r>
        </a:p>
      </dgm:t>
    </dgm:pt>
    <dgm:pt modelId="{6C7D499D-56B6-4FFE-AC5F-EBB06601C7CD}" type="parTrans" cxnId="{6A874CD4-C9EB-409A-B8E2-4DE553C884F1}">
      <dgm:prSet/>
      <dgm:spPr/>
      <dgm:t>
        <a:bodyPr/>
        <a:lstStyle/>
        <a:p>
          <a:endParaRPr lang="en-US"/>
        </a:p>
      </dgm:t>
    </dgm:pt>
    <dgm:pt modelId="{AE6139AC-6392-4256-B967-141584D11C8D}" type="sibTrans" cxnId="{6A874CD4-C9EB-409A-B8E2-4DE553C884F1}">
      <dgm:prSet/>
      <dgm:spPr/>
      <dgm:t>
        <a:bodyPr/>
        <a:lstStyle/>
        <a:p>
          <a:endParaRPr lang="en-US"/>
        </a:p>
      </dgm:t>
    </dgm:pt>
    <dgm:pt modelId="{F5DFDB44-3F5A-40E1-9FD6-DE333BEAB229}">
      <dgm:prSet/>
      <dgm:spPr/>
      <dgm:t>
        <a:bodyPr/>
        <a:lstStyle/>
        <a:p>
          <a:r>
            <a:rPr lang="en-US"/>
            <a:t>Balance Sheet Drivers &amp; Assumptions </a:t>
          </a:r>
        </a:p>
      </dgm:t>
    </dgm:pt>
    <dgm:pt modelId="{6B713925-C557-4653-84F9-891B868CB510}" type="parTrans" cxnId="{F0171479-7F82-4B0A-8EF1-C69A1E588C8E}">
      <dgm:prSet/>
      <dgm:spPr/>
      <dgm:t>
        <a:bodyPr/>
        <a:lstStyle/>
        <a:p>
          <a:endParaRPr lang="en-US"/>
        </a:p>
      </dgm:t>
    </dgm:pt>
    <dgm:pt modelId="{0C5CBAF3-230C-4E74-AFC8-8C00D8CA10EF}" type="sibTrans" cxnId="{F0171479-7F82-4B0A-8EF1-C69A1E588C8E}">
      <dgm:prSet/>
      <dgm:spPr/>
      <dgm:t>
        <a:bodyPr/>
        <a:lstStyle/>
        <a:p>
          <a:endParaRPr lang="en-US"/>
        </a:p>
      </dgm:t>
    </dgm:pt>
    <dgm:pt modelId="{EEF7A7FC-049C-4569-B08F-9348FC8E2B04}">
      <dgm:prSet/>
      <dgm:spPr/>
      <dgm:t>
        <a:bodyPr/>
        <a:lstStyle/>
        <a:p>
          <a:r>
            <a:rPr lang="en-US"/>
            <a:t>Balance Sheet </a:t>
          </a:r>
        </a:p>
      </dgm:t>
    </dgm:pt>
    <dgm:pt modelId="{66D1B0F2-70B2-4E74-AF47-DCF407681D14}" type="parTrans" cxnId="{F3EB18AB-DD7A-4A89-B30A-3D40F0798BAF}">
      <dgm:prSet/>
      <dgm:spPr/>
      <dgm:t>
        <a:bodyPr/>
        <a:lstStyle/>
        <a:p>
          <a:endParaRPr lang="en-US"/>
        </a:p>
      </dgm:t>
    </dgm:pt>
    <dgm:pt modelId="{43778358-93D1-4DE7-8D8E-4B0C0DAEDA44}" type="sibTrans" cxnId="{F3EB18AB-DD7A-4A89-B30A-3D40F0798BAF}">
      <dgm:prSet/>
      <dgm:spPr/>
      <dgm:t>
        <a:bodyPr/>
        <a:lstStyle/>
        <a:p>
          <a:endParaRPr lang="en-US"/>
        </a:p>
      </dgm:t>
    </dgm:pt>
    <dgm:pt modelId="{C202C79D-EE22-4A48-9C54-D6D93D78B9A0}">
      <dgm:prSet/>
      <dgm:spPr/>
      <dgm:t>
        <a:bodyPr/>
        <a:lstStyle/>
        <a:p>
          <a:r>
            <a:rPr lang="en-US"/>
            <a:t>Supporting Schedules (Depreciation &amp; Debt) </a:t>
          </a:r>
        </a:p>
      </dgm:t>
    </dgm:pt>
    <dgm:pt modelId="{E226E1A3-74F9-4724-82D0-4278C28B1F98}" type="parTrans" cxnId="{1FDD0B96-36B8-4E1B-994B-6273071506BC}">
      <dgm:prSet/>
      <dgm:spPr/>
      <dgm:t>
        <a:bodyPr/>
        <a:lstStyle/>
        <a:p>
          <a:endParaRPr lang="en-US"/>
        </a:p>
      </dgm:t>
    </dgm:pt>
    <dgm:pt modelId="{98219831-487E-49B3-8EA1-2C8A835273C5}" type="sibTrans" cxnId="{1FDD0B96-36B8-4E1B-994B-6273071506BC}">
      <dgm:prSet/>
      <dgm:spPr/>
      <dgm:t>
        <a:bodyPr/>
        <a:lstStyle/>
        <a:p>
          <a:endParaRPr lang="en-US"/>
        </a:p>
      </dgm:t>
    </dgm:pt>
    <dgm:pt modelId="{E62B9E42-CC9F-44B4-AAFC-783E02960C38}">
      <dgm:prSet/>
      <dgm:spPr/>
      <dgm:t>
        <a:bodyPr/>
        <a:lstStyle/>
        <a:p>
          <a:r>
            <a:rPr lang="en-US"/>
            <a:t>Statement of Cash Flows </a:t>
          </a:r>
        </a:p>
      </dgm:t>
    </dgm:pt>
    <dgm:pt modelId="{AADD44F0-249F-477C-89A6-6E6747788A92}" type="parTrans" cxnId="{DCC016AE-B9D7-40E8-AFFC-87CD554CE0FD}">
      <dgm:prSet/>
      <dgm:spPr/>
      <dgm:t>
        <a:bodyPr/>
        <a:lstStyle/>
        <a:p>
          <a:endParaRPr lang="en-US"/>
        </a:p>
      </dgm:t>
    </dgm:pt>
    <dgm:pt modelId="{DABBAA2E-58DE-4F16-9679-F1E1FE7FB120}" type="sibTrans" cxnId="{DCC016AE-B9D7-40E8-AFFC-87CD554CE0FD}">
      <dgm:prSet/>
      <dgm:spPr/>
      <dgm:t>
        <a:bodyPr/>
        <a:lstStyle/>
        <a:p>
          <a:endParaRPr lang="en-US"/>
        </a:p>
      </dgm:t>
    </dgm:pt>
    <dgm:pt modelId="{C09ADA59-8AB9-42C9-AC6A-2EAC3D5AC6D0}">
      <dgm:prSet/>
      <dgm:spPr/>
      <dgm:t>
        <a:bodyPr/>
        <a:lstStyle/>
        <a:p>
          <a:r>
            <a:rPr lang="en-US"/>
            <a:t>Financial Ratios (Historical &amp; Projected) </a:t>
          </a:r>
        </a:p>
      </dgm:t>
    </dgm:pt>
    <dgm:pt modelId="{D190B379-E70D-478A-A858-E899FC316E8D}" type="parTrans" cxnId="{86862415-5136-41D2-8A97-D78BA1C4B60F}">
      <dgm:prSet/>
      <dgm:spPr/>
      <dgm:t>
        <a:bodyPr/>
        <a:lstStyle/>
        <a:p>
          <a:endParaRPr lang="en-US"/>
        </a:p>
      </dgm:t>
    </dgm:pt>
    <dgm:pt modelId="{B78C92F1-9717-4FF4-8581-58982B096B99}" type="sibTrans" cxnId="{86862415-5136-41D2-8A97-D78BA1C4B60F}">
      <dgm:prSet/>
      <dgm:spPr/>
      <dgm:t>
        <a:bodyPr/>
        <a:lstStyle/>
        <a:p>
          <a:endParaRPr lang="en-US"/>
        </a:p>
      </dgm:t>
    </dgm:pt>
    <dgm:pt modelId="{8C719D97-06BE-42C6-B247-F5934ACF09A6}" type="pres">
      <dgm:prSet presAssocID="{2E94B00A-318D-46C1-B239-53E09AEAA1B9}" presName="vert0" presStyleCnt="0">
        <dgm:presLayoutVars>
          <dgm:dir/>
          <dgm:animOne val="branch"/>
          <dgm:animLvl val="lvl"/>
        </dgm:presLayoutVars>
      </dgm:prSet>
      <dgm:spPr/>
    </dgm:pt>
    <dgm:pt modelId="{E1D3F027-0798-427E-A405-A25B72F25623}" type="pres">
      <dgm:prSet presAssocID="{A8C81249-7770-4259-9CCC-3022657CD0F9}" presName="thickLine" presStyleLbl="alignNode1" presStyleIdx="0" presStyleCnt="7"/>
      <dgm:spPr/>
    </dgm:pt>
    <dgm:pt modelId="{034E72C2-74DE-4E91-9272-59F2C59AA89F}" type="pres">
      <dgm:prSet presAssocID="{A8C81249-7770-4259-9CCC-3022657CD0F9}" presName="horz1" presStyleCnt="0"/>
      <dgm:spPr/>
    </dgm:pt>
    <dgm:pt modelId="{E0159588-19C7-4E72-8E92-DC46CE95C13A}" type="pres">
      <dgm:prSet presAssocID="{A8C81249-7770-4259-9CCC-3022657CD0F9}" presName="tx1" presStyleLbl="revTx" presStyleIdx="0" presStyleCnt="7"/>
      <dgm:spPr/>
    </dgm:pt>
    <dgm:pt modelId="{40C7A6A8-74CC-46CB-B96F-D931958A1C1B}" type="pres">
      <dgm:prSet presAssocID="{A8C81249-7770-4259-9CCC-3022657CD0F9}" presName="vert1" presStyleCnt="0"/>
      <dgm:spPr/>
    </dgm:pt>
    <dgm:pt modelId="{F360DE21-6AB9-4CEC-928D-15B0D9D9AF5C}" type="pres">
      <dgm:prSet presAssocID="{D30E68B2-9961-4010-B9A2-79E2193D0AA6}" presName="thickLine" presStyleLbl="alignNode1" presStyleIdx="1" presStyleCnt="7"/>
      <dgm:spPr/>
    </dgm:pt>
    <dgm:pt modelId="{E0C22E48-A7B1-4FB5-AD08-09C79EC7EDE5}" type="pres">
      <dgm:prSet presAssocID="{D30E68B2-9961-4010-B9A2-79E2193D0AA6}" presName="horz1" presStyleCnt="0"/>
      <dgm:spPr/>
    </dgm:pt>
    <dgm:pt modelId="{23692C2F-32F6-487F-9960-3B2CC3593BE3}" type="pres">
      <dgm:prSet presAssocID="{D30E68B2-9961-4010-B9A2-79E2193D0AA6}" presName="tx1" presStyleLbl="revTx" presStyleIdx="1" presStyleCnt="7"/>
      <dgm:spPr/>
    </dgm:pt>
    <dgm:pt modelId="{F725142B-8E54-4939-9F9E-89DECF86B342}" type="pres">
      <dgm:prSet presAssocID="{D30E68B2-9961-4010-B9A2-79E2193D0AA6}" presName="vert1" presStyleCnt="0"/>
      <dgm:spPr/>
    </dgm:pt>
    <dgm:pt modelId="{166F3F31-29A3-48AB-87EF-0E1F9414F919}" type="pres">
      <dgm:prSet presAssocID="{F5DFDB44-3F5A-40E1-9FD6-DE333BEAB229}" presName="thickLine" presStyleLbl="alignNode1" presStyleIdx="2" presStyleCnt="7"/>
      <dgm:spPr/>
    </dgm:pt>
    <dgm:pt modelId="{5EE74F9D-E4EF-436D-8307-DC3CB61957CB}" type="pres">
      <dgm:prSet presAssocID="{F5DFDB44-3F5A-40E1-9FD6-DE333BEAB229}" presName="horz1" presStyleCnt="0"/>
      <dgm:spPr/>
    </dgm:pt>
    <dgm:pt modelId="{AC156932-F7A3-4E83-B6E9-AFF69DBCB402}" type="pres">
      <dgm:prSet presAssocID="{F5DFDB44-3F5A-40E1-9FD6-DE333BEAB229}" presName="tx1" presStyleLbl="revTx" presStyleIdx="2" presStyleCnt="7"/>
      <dgm:spPr/>
    </dgm:pt>
    <dgm:pt modelId="{8300338A-1705-49F7-827F-DDDF670CBDEA}" type="pres">
      <dgm:prSet presAssocID="{F5DFDB44-3F5A-40E1-9FD6-DE333BEAB229}" presName="vert1" presStyleCnt="0"/>
      <dgm:spPr/>
    </dgm:pt>
    <dgm:pt modelId="{F9C335AE-8ABD-484A-A553-BFCCDDB389D0}" type="pres">
      <dgm:prSet presAssocID="{EEF7A7FC-049C-4569-B08F-9348FC8E2B04}" presName="thickLine" presStyleLbl="alignNode1" presStyleIdx="3" presStyleCnt="7"/>
      <dgm:spPr/>
    </dgm:pt>
    <dgm:pt modelId="{08B88E06-5F32-46F9-8D9C-D2B6C795A0C9}" type="pres">
      <dgm:prSet presAssocID="{EEF7A7FC-049C-4569-B08F-9348FC8E2B04}" presName="horz1" presStyleCnt="0"/>
      <dgm:spPr/>
    </dgm:pt>
    <dgm:pt modelId="{C772767D-797A-49B5-9BAE-5F3D939FDCB6}" type="pres">
      <dgm:prSet presAssocID="{EEF7A7FC-049C-4569-B08F-9348FC8E2B04}" presName="tx1" presStyleLbl="revTx" presStyleIdx="3" presStyleCnt="7"/>
      <dgm:spPr/>
    </dgm:pt>
    <dgm:pt modelId="{8C65CE95-2A1F-4C7C-A59F-6FFA44F196F1}" type="pres">
      <dgm:prSet presAssocID="{EEF7A7FC-049C-4569-B08F-9348FC8E2B04}" presName="vert1" presStyleCnt="0"/>
      <dgm:spPr/>
    </dgm:pt>
    <dgm:pt modelId="{80EF1DC9-A572-4182-A8F5-714425F2EFA0}" type="pres">
      <dgm:prSet presAssocID="{C202C79D-EE22-4A48-9C54-D6D93D78B9A0}" presName="thickLine" presStyleLbl="alignNode1" presStyleIdx="4" presStyleCnt="7"/>
      <dgm:spPr/>
    </dgm:pt>
    <dgm:pt modelId="{848376E0-1468-4734-8367-4230EF4B4630}" type="pres">
      <dgm:prSet presAssocID="{C202C79D-EE22-4A48-9C54-D6D93D78B9A0}" presName="horz1" presStyleCnt="0"/>
      <dgm:spPr/>
    </dgm:pt>
    <dgm:pt modelId="{E4F59FAA-1F15-4CC9-BDA2-9C8DC5C3F9D6}" type="pres">
      <dgm:prSet presAssocID="{C202C79D-EE22-4A48-9C54-D6D93D78B9A0}" presName="tx1" presStyleLbl="revTx" presStyleIdx="4" presStyleCnt="7"/>
      <dgm:spPr/>
    </dgm:pt>
    <dgm:pt modelId="{BD6AE8BE-6DE2-4336-9715-7E9C9ECCACE4}" type="pres">
      <dgm:prSet presAssocID="{C202C79D-EE22-4A48-9C54-D6D93D78B9A0}" presName="vert1" presStyleCnt="0"/>
      <dgm:spPr/>
    </dgm:pt>
    <dgm:pt modelId="{CA967813-2DEB-48FD-B246-7FBAAE288A54}" type="pres">
      <dgm:prSet presAssocID="{E62B9E42-CC9F-44B4-AAFC-783E02960C38}" presName="thickLine" presStyleLbl="alignNode1" presStyleIdx="5" presStyleCnt="7"/>
      <dgm:spPr/>
    </dgm:pt>
    <dgm:pt modelId="{5B262B6E-E500-4499-BA8E-EEBFD62E6A57}" type="pres">
      <dgm:prSet presAssocID="{E62B9E42-CC9F-44B4-AAFC-783E02960C38}" presName="horz1" presStyleCnt="0"/>
      <dgm:spPr/>
    </dgm:pt>
    <dgm:pt modelId="{5962F03D-8471-4FC2-AB78-2FF694C58EFF}" type="pres">
      <dgm:prSet presAssocID="{E62B9E42-CC9F-44B4-AAFC-783E02960C38}" presName="tx1" presStyleLbl="revTx" presStyleIdx="5" presStyleCnt="7"/>
      <dgm:spPr/>
    </dgm:pt>
    <dgm:pt modelId="{973AD207-9913-4632-9F83-9A900755F02B}" type="pres">
      <dgm:prSet presAssocID="{E62B9E42-CC9F-44B4-AAFC-783E02960C38}" presName="vert1" presStyleCnt="0"/>
      <dgm:spPr/>
    </dgm:pt>
    <dgm:pt modelId="{67FF3405-96AB-4280-BF8E-F17E238D95F6}" type="pres">
      <dgm:prSet presAssocID="{C09ADA59-8AB9-42C9-AC6A-2EAC3D5AC6D0}" presName="thickLine" presStyleLbl="alignNode1" presStyleIdx="6" presStyleCnt="7"/>
      <dgm:spPr/>
    </dgm:pt>
    <dgm:pt modelId="{B18D6453-0A4C-4665-B6D2-02FEF1DD744E}" type="pres">
      <dgm:prSet presAssocID="{C09ADA59-8AB9-42C9-AC6A-2EAC3D5AC6D0}" presName="horz1" presStyleCnt="0"/>
      <dgm:spPr/>
    </dgm:pt>
    <dgm:pt modelId="{60080835-F52E-471C-89C0-A006553E694A}" type="pres">
      <dgm:prSet presAssocID="{C09ADA59-8AB9-42C9-AC6A-2EAC3D5AC6D0}" presName="tx1" presStyleLbl="revTx" presStyleIdx="6" presStyleCnt="7"/>
      <dgm:spPr/>
    </dgm:pt>
    <dgm:pt modelId="{F8EA4FB5-7018-4838-B847-4EE92A8845DE}" type="pres">
      <dgm:prSet presAssocID="{C09ADA59-8AB9-42C9-AC6A-2EAC3D5AC6D0}" presName="vert1" presStyleCnt="0"/>
      <dgm:spPr/>
    </dgm:pt>
  </dgm:ptLst>
  <dgm:cxnLst>
    <dgm:cxn modelId="{86862415-5136-41D2-8A97-D78BA1C4B60F}" srcId="{2E94B00A-318D-46C1-B239-53E09AEAA1B9}" destId="{C09ADA59-8AB9-42C9-AC6A-2EAC3D5AC6D0}" srcOrd="6" destOrd="0" parTransId="{D190B379-E70D-478A-A858-E899FC316E8D}" sibTransId="{B78C92F1-9717-4FF4-8581-58982B096B99}"/>
    <dgm:cxn modelId="{B5ACC228-7334-4BBA-864B-AC1B2C2180EC}" type="presOf" srcId="{A8C81249-7770-4259-9CCC-3022657CD0F9}" destId="{E0159588-19C7-4E72-8E92-DC46CE95C13A}" srcOrd="0" destOrd="0" presId="urn:microsoft.com/office/officeart/2008/layout/LinedList"/>
    <dgm:cxn modelId="{264BDD56-2016-4040-9A74-2AA6A40C742A}" type="presOf" srcId="{C09ADA59-8AB9-42C9-AC6A-2EAC3D5AC6D0}" destId="{60080835-F52E-471C-89C0-A006553E694A}" srcOrd="0" destOrd="0" presId="urn:microsoft.com/office/officeart/2008/layout/LinedList"/>
    <dgm:cxn modelId="{F0171479-7F82-4B0A-8EF1-C69A1E588C8E}" srcId="{2E94B00A-318D-46C1-B239-53E09AEAA1B9}" destId="{F5DFDB44-3F5A-40E1-9FD6-DE333BEAB229}" srcOrd="2" destOrd="0" parTransId="{6B713925-C557-4653-84F9-891B868CB510}" sibTransId="{0C5CBAF3-230C-4E74-AFC8-8C00D8CA10EF}"/>
    <dgm:cxn modelId="{452B7F93-6D7B-4CF5-B01F-30D6D2BAAFF7}" type="presOf" srcId="{D30E68B2-9961-4010-B9A2-79E2193D0AA6}" destId="{23692C2F-32F6-487F-9960-3B2CC3593BE3}" srcOrd="0" destOrd="0" presId="urn:microsoft.com/office/officeart/2008/layout/LinedList"/>
    <dgm:cxn modelId="{1FDD0B96-36B8-4E1B-994B-6273071506BC}" srcId="{2E94B00A-318D-46C1-B239-53E09AEAA1B9}" destId="{C202C79D-EE22-4A48-9C54-D6D93D78B9A0}" srcOrd="4" destOrd="0" parTransId="{E226E1A3-74F9-4724-82D0-4278C28B1F98}" sibTransId="{98219831-487E-49B3-8EA1-2C8A835273C5}"/>
    <dgm:cxn modelId="{B6D33E96-0FC0-41DF-B45C-B2CA0CE58336}" type="presOf" srcId="{2E94B00A-318D-46C1-B239-53E09AEAA1B9}" destId="{8C719D97-06BE-42C6-B247-F5934ACF09A6}" srcOrd="0" destOrd="0" presId="urn:microsoft.com/office/officeart/2008/layout/LinedList"/>
    <dgm:cxn modelId="{8910FA9A-262B-4422-892C-68A10C50ED56}" type="presOf" srcId="{C202C79D-EE22-4A48-9C54-D6D93D78B9A0}" destId="{E4F59FAA-1F15-4CC9-BDA2-9C8DC5C3F9D6}" srcOrd="0" destOrd="0" presId="urn:microsoft.com/office/officeart/2008/layout/LinedList"/>
    <dgm:cxn modelId="{F3EB18AB-DD7A-4A89-B30A-3D40F0798BAF}" srcId="{2E94B00A-318D-46C1-B239-53E09AEAA1B9}" destId="{EEF7A7FC-049C-4569-B08F-9348FC8E2B04}" srcOrd="3" destOrd="0" parTransId="{66D1B0F2-70B2-4E74-AF47-DCF407681D14}" sibTransId="{43778358-93D1-4DE7-8D8E-4B0C0DAEDA44}"/>
    <dgm:cxn modelId="{DCC016AE-B9D7-40E8-AFFC-87CD554CE0FD}" srcId="{2E94B00A-318D-46C1-B239-53E09AEAA1B9}" destId="{E62B9E42-CC9F-44B4-AAFC-783E02960C38}" srcOrd="5" destOrd="0" parTransId="{AADD44F0-249F-477C-89A6-6E6747788A92}" sibTransId="{DABBAA2E-58DE-4F16-9679-F1E1FE7FB120}"/>
    <dgm:cxn modelId="{5ECC7CBA-88FC-4521-8936-2986778676A4}" type="presOf" srcId="{EEF7A7FC-049C-4569-B08F-9348FC8E2B04}" destId="{C772767D-797A-49B5-9BAE-5F3D939FDCB6}" srcOrd="0" destOrd="0" presId="urn:microsoft.com/office/officeart/2008/layout/LinedList"/>
    <dgm:cxn modelId="{D15D12CB-1171-4D00-B6E0-64223F4834BE}" type="presOf" srcId="{F5DFDB44-3F5A-40E1-9FD6-DE333BEAB229}" destId="{AC156932-F7A3-4E83-B6E9-AFF69DBCB402}" srcOrd="0" destOrd="0" presId="urn:microsoft.com/office/officeart/2008/layout/LinedList"/>
    <dgm:cxn modelId="{6A874CD4-C9EB-409A-B8E2-4DE553C884F1}" srcId="{2E94B00A-318D-46C1-B239-53E09AEAA1B9}" destId="{D30E68B2-9961-4010-B9A2-79E2193D0AA6}" srcOrd="1" destOrd="0" parTransId="{6C7D499D-56B6-4FFE-AC5F-EBB06601C7CD}" sibTransId="{AE6139AC-6392-4256-B967-141584D11C8D}"/>
    <dgm:cxn modelId="{85B7C6E6-0CC8-4E90-A815-82C6C9E8A3C5}" srcId="{2E94B00A-318D-46C1-B239-53E09AEAA1B9}" destId="{A8C81249-7770-4259-9CCC-3022657CD0F9}" srcOrd="0" destOrd="0" parTransId="{3FCA7937-5F8E-4C15-864D-EA32781A625E}" sibTransId="{62582159-1DBA-4FF2-90C6-8D9C3E9BC96F}"/>
    <dgm:cxn modelId="{244278F6-E0C0-49DB-92A7-B8F5DB7F5F79}" type="presOf" srcId="{E62B9E42-CC9F-44B4-AAFC-783E02960C38}" destId="{5962F03D-8471-4FC2-AB78-2FF694C58EFF}" srcOrd="0" destOrd="0" presId="urn:microsoft.com/office/officeart/2008/layout/LinedList"/>
    <dgm:cxn modelId="{542C536C-DFC5-4FF6-9E21-4032D8EB0434}" type="presParOf" srcId="{8C719D97-06BE-42C6-B247-F5934ACF09A6}" destId="{E1D3F027-0798-427E-A405-A25B72F25623}" srcOrd="0" destOrd="0" presId="urn:microsoft.com/office/officeart/2008/layout/LinedList"/>
    <dgm:cxn modelId="{292BE726-5061-47D7-B2E3-605CF189DCBE}" type="presParOf" srcId="{8C719D97-06BE-42C6-B247-F5934ACF09A6}" destId="{034E72C2-74DE-4E91-9272-59F2C59AA89F}" srcOrd="1" destOrd="0" presId="urn:microsoft.com/office/officeart/2008/layout/LinedList"/>
    <dgm:cxn modelId="{4D8CB68A-2D49-4059-BBF1-284E2928134A}" type="presParOf" srcId="{034E72C2-74DE-4E91-9272-59F2C59AA89F}" destId="{E0159588-19C7-4E72-8E92-DC46CE95C13A}" srcOrd="0" destOrd="0" presId="urn:microsoft.com/office/officeart/2008/layout/LinedList"/>
    <dgm:cxn modelId="{30A97C05-4732-41D3-8CE3-2380428729E1}" type="presParOf" srcId="{034E72C2-74DE-4E91-9272-59F2C59AA89F}" destId="{40C7A6A8-74CC-46CB-B96F-D931958A1C1B}" srcOrd="1" destOrd="0" presId="urn:microsoft.com/office/officeart/2008/layout/LinedList"/>
    <dgm:cxn modelId="{995BCA9F-DD55-49A8-80B8-04C21CA2135B}" type="presParOf" srcId="{8C719D97-06BE-42C6-B247-F5934ACF09A6}" destId="{F360DE21-6AB9-4CEC-928D-15B0D9D9AF5C}" srcOrd="2" destOrd="0" presId="urn:microsoft.com/office/officeart/2008/layout/LinedList"/>
    <dgm:cxn modelId="{E829F199-10B9-4ED1-B266-9248515E7F1C}" type="presParOf" srcId="{8C719D97-06BE-42C6-B247-F5934ACF09A6}" destId="{E0C22E48-A7B1-4FB5-AD08-09C79EC7EDE5}" srcOrd="3" destOrd="0" presId="urn:microsoft.com/office/officeart/2008/layout/LinedList"/>
    <dgm:cxn modelId="{AE67DB5B-FF18-4671-9B68-93122C4F5FE9}" type="presParOf" srcId="{E0C22E48-A7B1-4FB5-AD08-09C79EC7EDE5}" destId="{23692C2F-32F6-487F-9960-3B2CC3593BE3}" srcOrd="0" destOrd="0" presId="urn:microsoft.com/office/officeart/2008/layout/LinedList"/>
    <dgm:cxn modelId="{D3350E08-95F4-4E8A-A643-17075D4CDD6B}" type="presParOf" srcId="{E0C22E48-A7B1-4FB5-AD08-09C79EC7EDE5}" destId="{F725142B-8E54-4939-9F9E-89DECF86B342}" srcOrd="1" destOrd="0" presId="urn:microsoft.com/office/officeart/2008/layout/LinedList"/>
    <dgm:cxn modelId="{8036E9F1-EF09-442A-81B2-94A471D0A6EF}" type="presParOf" srcId="{8C719D97-06BE-42C6-B247-F5934ACF09A6}" destId="{166F3F31-29A3-48AB-87EF-0E1F9414F919}" srcOrd="4" destOrd="0" presId="urn:microsoft.com/office/officeart/2008/layout/LinedList"/>
    <dgm:cxn modelId="{146260C8-219B-41EA-8CAC-F0CF0BBDE9A1}" type="presParOf" srcId="{8C719D97-06BE-42C6-B247-F5934ACF09A6}" destId="{5EE74F9D-E4EF-436D-8307-DC3CB61957CB}" srcOrd="5" destOrd="0" presId="urn:microsoft.com/office/officeart/2008/layout/LinedList"/>
    <dgm:cxn modelId="{FB41CFDC-96B7-4B63-9BA1-8BDC1807DE2E}" type="presParOf" srcId="{5EE74F9D-E4EF-436D-8307-DC3CB61957CB}" destId="{AC156932-F7A3-4E83-B6E9-AFF69DBCB402}" srcOrd="0" destOrd="0" presId="urn:microsoft.com/office/officeart/2008/layout/LinedList"/>
    <dgm:cxn modelId="{8432BBB3-9874-4350-A77E-E77E6E2CD2C7}" type="presParOf" srcId="{5EE74F9D-E4EF-436D-8307-DC3CB61957CB}" destId="{8300338A-1705-49F7-827F-DDDF670CBDEA}" srcOrd="1" destOrd="0" presId="urn:microsoft.com/office/officeart/2008/layout/LinedList"/>
    <dgm:cxn modelId="{ED484781-A1AE-46E7-A4B9-6641C891A945}" type="presParOf" srcId="{8C719D97-06BE-42C6-B247-F5934ACF09A6}" destId="{F9C335AE-8ABD-484A-A553-BFCCDDB389D0}" srcOrd="6" destOrd="0" presId="urn:microsoft.com/office/officeart/2008/layout/LinedList"/>
    <dgm:cxn modelId="{180699FD-0F6D-4BDE-825E-0A03B5E4BEE3}" type="presParOf" srcId="{8C719D97-06BE-42C6-B247-F5934ACF09A6}" destId="{08B88E06-5F32-46F9-8D9C-D2B6C795A0C9}" srcOrd="7" destOrd="0" presId="urn:microsoft.com/office/officeart/2008/layout/LinedList"/>
    <dgm:cxn modelId="{81D0EE56-B414-41E8-ACBB-491FB1812E54}" type="presParOf" srcId="{08B88E06-5F32-46F9-8D9C-D2B6C795A0C9}" destId="{C772767D-797A-49B5-9BAE-5F3D939FDCB6}" srcOrd="0" destOrd="0" presId="urn:microsoft.com/office/officeart/2008/layout/LinedList"/>
    <dgm:cxn modelId="{AC93DF49-880E-420D-8514-89AD16DBF652}" type="presParOf" srcId="{08B88E06-5F32-46F9-8D9C-D2B6C795A0C9}" destId="{8C65CE95-2A1F-4C7C-A59F-6FFA44F196F1}" srcOrd="1" destOrd="0" presId="urn:microsoft.com/office/officeart/2008/layout/LinedList"/>
    <dgm:cxn modelId="{622090F1-D243-46E9-AAF0-B16865EBDCED}" type="presParOf" srcId="{8C719D97-06BE-42C6-B247-F5934ACF09A6}" destId="{80EF1DC9-A572-4182-A8F5-714425F2EFA0}" srcOrd="8" destOrd="0" presId="urn:microsoft.com/office/officeart/2008/layout/LinedList"/>
    <dgm:cxn modelId="{B098B392-AB76-4CCF-969C-9E4A30E65947}" type="presParOf" srcId="{8C719D97-06BE-42C6-B247-F5934ACF09A6}" destId="{848376E0-1468-4734-8367-4230EF4B4630}" srcOrd="9" destOrd="0" presId="urn:microsoft.com/office/officeart/2008/layout/LinedList"/>
    <dgm:cxn modelId="{843366D6-7FCD-4E45-BA3A-354A568E4798}" type="presParOf" srcId="{848376E0-1468-4734-8367-4230EF4B4630}" destId="{E4F59FAA-1F15-4CC9-BDA2-9C8DC5C3F9D6}" srcOrd="0" destOrd="0" presId="urn:microsoft.com/office/officeart/2008/layout/LinedList"/>
    <dgm:cxn modelId="{8E5B2CFA-95FD-4893-84C5-02137835F0C6}" type="presParOf" srcId="{848376E0-1468-4734-8367-4230EF4B4630}" destId="{BD6AE8BE-6DE2-4336-9715-7E9C9ECCACE4}" srcOrd="1" destOrd="0" presId="urn:microsoft.com/office/officeart/2008/layout/LinedList"/>
    <dgm:cxn modelId="{218CA8A3-89B4-4B2A-A60A-CB5F4B8D5488}" type="presParOf" srcId="{8C719D97-06BE-42C6-B247-F5934ACF09A6}" destId="{CA967813-2DEB-48FD-B246-7FBAAE288A54}" srcOrd="10" destOrd="0" presId="urn:microsoft.com/office/officeart/2008/layout/LinedList"/>
    <dgm:cxn modelId="{E1A00B43-E012-4EE6-B844-B8831B7F0E67}" type="presParOf" srcId="{8C719D97-06BE-42C6-B247-F5934ACF09A6}" destId="{5B262B6E-E500-4499-BA8E-EEBFD62E6A57}" srcOrd="11" destOrd="0" presId="urn:microsoft.com/office/officeart/2008/layout/LinedList"/>
    <dgm:cxn modelId="{A70CF425-DC5C-411D-842F-F41CFEFAC8D0}" type="presParOf" srcId="{5B262B6E-E500-4499-BA8E-EEBFD62E6A57}" destId="{5962F03D-8471-4FC2-AB78-2FF694C58EFF}" srcOrd="0" destOrd="0" presId="urn:microsoft.com/office/officeart/2008/layout/LinedList"/>
    <dgm:cxn modelId="{357E3BC3-6680-42CF-B2B3-7B55943862A2}" type="presParOf" srcId="{5B262B6E-E500-4499-BA8E-EEBFD62E6A57}" destId="{973AD207-9913-4632-9F83-9A900755F02B}" srcOrd="1" destOrd="0" presId="urn:microsoft.com/office/officeart/2008/layout/LinedList"/>
    <dgm:cxn modelId="{BF3005C4-C7C8-4A4B-BA40-69A3BDCF2D7C}" type="presParOf" srcId="{8C719D97-06BE-42C6-B247-F5934ACF09A6}" destId="{67FF3405-96AB-4280-BF8E-F17E238D95F6}" srcOrd="12" destOrd="0" presId="urn:microsoft.com/office/officeart/2008/layout/LinedList"/>
    <dgm:cxn modelId="{48743F20-A869-4C18-941C-AA6D3FA9DE06}" type="presParOf" srcId="{8C719D97-06BE-42C6-B247-F5934ACF09A6}" destId="{B18D6453-0A4C-4665-B6D2-02FEF1DD744E}" srcOrd="13" destOrd="0" presId="urn:microsoft.com/office/officeart/2008/layout/LinedList"/>
    <dgm:cxn modelId="{A67DF870-9B84-42EC-B5AA-58BEA5DE7DD7}" type="presParOf" srcId="{B18D6453-0A4C-4665-B6D2-02FEF1DD744E}" destId="{60080835-F52E-471C-89C0-A006553E694A}" srcOrd="0" destOrd="0" presId="urn:microsoft.com/office/officeart/2008/layout/LinedList"/>
    <dgm:cxn modelId="{88847BBB-10A9-48DD-9AF6-538FC72A0787}" type="presParOf" srcId="{B18D6453-0A4C-4665-B6D2-02FEF1DD744E}" destId="{F8EA4FB5-7018-4838-B847-4EE92A8845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07176E-2A18-4BAB-B354-FF4117F420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527E07-06CB-4284-8AA9-2713D8180115}">
      <dgm:prSet/>
      <dgm:spPr/>
      <dgm:t>
        <a:bodyPr/>
        <a:lstStyle/>
        <a:p>
          <a:r>
            <a:rPr lang="en-US" b="0" i="0" baseline="0"/>
            <a:t>Revenue growth remains steady but moderates vs. prior years </a:t>
          </a:r>
          <a:endParaRPr lang="en-US"/>
        </a:p>
      </dgm:t>
    </dgm:pt>
    <dgm:pt modelId="{6D25E252-8C5F-45E3-A4E2-91EFB797A46C}" type="parTrans" cxnId="{9DF10665-BEA6-4917-9D73-D047FA2107B9}">
      <dgm:prSet/>
      <dgm:spPr/>
      <dgm:t>
        <a:bodyPr/>
        <a:lstStyle/>
        <a:p>
          <a:endParaRPr lang="en-US"/>
        </a:p>
      </dgm:t>
    </dgm:pt>
    <dgm:pt modelId="{3DD5CEDB-2A58-462E-A4F0-F2E9C0A1567A}" type="sibTrans" cxnId="{9DF10665-BEA6-4917-9D73-D047FA2107B9}">
      <dgm:prSet/>
      <dgm:spPr/>
      <dgm:t>
        <a:bodyPr/>
        <a:lstStyle/>
        <a:p>
          <a:endParaRPr lang="en-US"/>
        </a:p>
      </dgm:t>
    </dgm:pt>
    <dgm:pt modelId="{EB3DFD32-32E0-48A4-9B38-F438BC073E8F}">
      <dgm:prSet/>
      <dgm:spPr/>
      <dgm:t>
        <a:bodyPr/>
        <a:lstStyle/>
        <a:p>
          <a:r>
            <a:rPr lang="en-US" b="0" i="0" baseline="0"/>
            <a:t>Margins slightly pressured short-term, then stabilize </a:t>
          </a:r>
          <a:endParaRPr lang="en-US"/>
        </a:p>
      </dgm:t>
    </dgm:pt>
    <dgm:pt modelId="{27470BBC-67C5-4813-AFBA-78DCD6BC8B80}" type="parTrans" cxnId="{41578070-C2DA-492B-BFC7-F81B7DC59454}">
      <dgm:prSet/>
      <dgm:spPr/>
      <dgm:t>
        <a:bodyPr/>
        <a:lstStyle/>
        <a:p>
          <a:endParaRPr lang="en-US"/>
        </a:p>
      </dgm:t>
    </dgm:pt>
    <dgm:pt modelId="{C78EC0F9-7B32-4C7D-8E9E-BA3A834EE98B}" type="sibTrans" cxnId="{41578070-C2DA-492B-BFC7-F81B7DC59454}">
      <dgm:prSet/>
      <dgm:spPr/>
      <dgm:t>
        <a:bodyPr/>
        <a:lstStyle/>
        <a:p>
          <a:endParaRPr lang="en-US"/>
        </a:p>
      </dgm:t>
    </dgm:pt>
    <dgm:pt modelId="{1FC4DED1-AA44-4982-9AE7-6C3F38556E70}">
      <dgm:prSet/>
      <dgm:spPr/>
      <dgm:t>
        <a:bodyPr/>
        <a:lstStyle/>
        <a:p>
          <a:r>
            <a:rPr lang="en-US" b="0" i="0" baseline="0"/>
            <a:t>Net income grows consistently with revenue </a:t>
          </a:r>
          <a:endParaRPr lang="en-US"/>
        </a:p>
      </dgm:t>
    </dgm:pt>
    <dgm:pt modelId="{182908CD-237F-410B-8F98-FB8AB4BC0F8F}" type="parTrans" cxnId="{32CB25E9-E8BE-47E9-AA84-82FA053B6C84}">
      <dgm:prSet/>
      <dgm:spPr/>
      <dgm:t>
        <a:bodyPr/>
        <a:lstStyle/>
        <a:p>
          <a:endParaRPr lang="en-US"/>
        </a:p>
      </dgm:t>
    </dgm:pt>
    <dgm:pt modelId="{2BF8607C-8B52-42F7-82AF-275029D45F89}" type="sibTrans" cxnId="{32CB25E9-E8BE-47E9-AA84-82FA053B6C84}">
      <dgm:prSet/>
      <dgm:spPr/>
      <dgm:t>
        <a:bodyPr/>
        <a:lstStyle/>
        <a:p>
          <a:endParaRPr lang="en-US"/>
        </a:p>
      </dgm:t>
    </dgm:pt>
    <dgm:pt modelId="{311B07A4-DBC1-4790-A28D-0883E7789BD0}" type="pres">
      <dgm:prSet presAssocID="{1307176E-2A18-4BAB-B354-FF4117F42079}" presName="root" presStyleCnt="0">
        <dgm:presLayoutVars>
          <dgm:dir/>
          <dgm:resizeHandles val="exact"/>
        </dgm:presLayoutVars>
      </dgm:prSet>
      <dgm:spPr/>
    </dgm:pt>
    <dgm:pt modelId="{72262AD1-29CE-4678-8BD8-9D26F7B87317}" type="pres">
      <dgm:prSet presAssocID="{53527E07-06CB-4284-8AA9-2713D8180115}" presName="compNode" presStyleCnt="0"/>
      <dgm:spPr/>
    </dgm:pt>
    <dgm:pt modelId="{3725F1E4-1A3D-480E-AB8D-8F1FEC33B53F}" type="pres">
      <dgm:prSet presAssocID="{53527E07-06CB-4284-8AA9-2713D8180115}" presName="bgRect" presStyleLbl="bgShp" presStyleIdx="0" presStyleCnt="3"/>
      <dgm:spPr/>
    </dgm:pt>
    <dgm:pt modelId="{A39BC7B8-AB20-4E0B-9550-EDB84B748A86}" type="pres">
      <dgm:prSet presAssocID="{53527E07-06CB-4284-8AA9-2713D818011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287A6A9-85BF-4E13-92A9-FC4261D56927}" type="pres">
      <dgm:prSet presAssocID="{53527E07-06CB-4284-8AA9-2713D8180115}" presName="spaceRect" presStyleCnt="0"/>
      <dgm:spPr/>
    </dgm:pt>
    <dgm:pt modelId="{AB3A5502-1A56-4A4D-8E43-7DC9C2B3E170}" type="pres">
      <dgm:prSet presAssocID="{53527E07-06CB-4284-8AA9-2713D8180115}" presName="parTx" presStyleLbl="revTx" presStyleIdx="0" presStyleCnt="3">
        <dgm:presLayoutVars>
          <dgm:chMax val="0"/>
          <dgm:chPref val="0"/>
        </dgm:presLayoutVars>
      </dgm:prSet>
      <dgm:spPr/>
    </dgm:pt>
    <dgm:pt modelId="{D866CEB0-9B99-4ACA-B141-43DA6660D59A}" type="pres">
      <dgm:prSet presAssocID="{3DD5CEDB-2A58-462E-A4F0-F2E9C0A1567A}" presName="sibTrans" presStyleCnt="0"/>
      <dgm:spPr/>
    </dgm:pt>
    <dgm:pt modelId="{4133572C-3D87-469E-8BE5-E08170DA5086}" type="pres">
      <dgm:prSet presAssocID="{EB3DFD32-32E0-48A4-9B38-F438BC073E8F}" presName="compNode" presStyleCnt="0"/>
      <dgm:spPr/>
    </dgm:pt>
    <dgm:pt modelId="{B1D39D9D-1021-4136-B06A-6BD0E97D9A02}" type="pres">
      <dgm:prSet presAssocID="{EB3DFD32-32E0-48A4-9B38-F438BC073E8F}" presName="bgRect" presStyleLbl="bgShp" presStyleIdx="1" presStyleCnt="3"/>
      <dgm:spPr/>
    </dgm:pt>
    <dgm:pt modelId="{B9FD3474-14DB-4123-B3E5-BB4866F9C4F6}" type="pres">
      <dgm:prSet presAssocID="{EB3DFD32-32E0-48A4-9B38-F438BC073E8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B0934A9D-B2E0-4185-A99D-B058838741D4}" type="pres">
      <dgm:prSet presAssocID="{EB3DFD32-32E0-48A4-9B38-F438BC073E8F}" presName="spaceRect" presStyleCnt="0"/>
      <dgm:spPr/>
    </dgm:pt>
    <dgm:pt modelId="{0367A5F3-09DA-442A-BEB2-E64DD2AD182E}" type="pres">
      <dgm:prSet presAssocID="{EB3DFD32-32E0-48A4-9B38-F438BC073E8F}" presName="parTx" presStyleLbl="revTx" presStyleIdx="1" presStyleCnt="3">
        <dgm:presLayoutVars>
          <dgm:chMax val="0"/>
          <dgm:chPref val="0"/>
        </dgm:presLayoutVars>
      </dgm:prSet>
      <dgm:spPr/>
    </dgm:pt>
    <dgm:pt modelId="{6AE01C22-023B-47ED-9D5B-09A1DE645A4F}" type="pres">
      <dgm:prSet presAssocID="{C78EC0F9-7B32-4C7D-8E9E-BA3A834EE98B}" presName="sibTrans" presStyleCnt="0"/>
      <dgm:spPr/>
    </dgm:pt>
    <dgm:pt modelId="{BB11F1BD-526C-4669-A08B-C33D402DB2CC}" type="pres">
      <dgm:prSet presAssocID="{1FC4DED1-AA44-4982-9AE7-6C3F38556E70}" presName="compNode" presStyleCnt="0"/>
      <dgm:spPr/>
    </dgm:pt>
    <dgm:pt modelId="{A6B45916-7C62-41D0-87EB-8B83B288E62F}" type="pres">
      <dgm:prSet presAssocID="{1FC4DED1-AA44-4982-9AE7-6C3F38556E70}" presName="bgRect" presStyleLbl="bgShp" presStyleIdx="2" presStyleCnt="3"/>
      <dgm:spPr/>
    </dgm:pt>
    <dgm:pt modelId="{08D8953A-6297-4A8D-B240-F7A4D14BF0E8}" type="pres">
      <dgm:prSet presAssocID="{1FC4DED1-AA44-4982-9AE7-6C3F38556E7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2365C9-6D3E-4401-87F2-D27ECF958F8C}" type="pres">
      <dgm:prSet presAssocID="{1FC4DED1-AA44-4982-9AE7-6C3F38556E70}" presName="spaceRect" presStyleCnt="0"/>
      <dgm:spPr/>
    </dgm:pt>
    <dgm:pt modelId="{751789E5-5BD2-47F5-8C51-7EB37D705E91}" type="pres">
      <dgm:prSet presAssocID="{1FC4DED1-AA44-4982-9AE7-6C3F38556E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2815408-09ED-4ED0-9FBB-0E57B81FADAF}" type="presOf" srcId="{53527E07-06CB-4284-8AA9-2713D8180115}" destId="{AB3A5502-1A56-4A4D-8E43-7DC9C2B3E170}" srcOrd="0" destOrd="0" presId="urn:microsoft.com/office/officeart/2018/2/layout/IconVerticalSolidList"/>
    <dgm:cxn modelId="{FF700B3B-AB5D-48FF-B723-4D7BB8F7AA14}" type="presOf" srcId="{1307176E-2A18-4BAB-B354-FF4117F42079}" destId="{311B07A4-DBC1-4790-A28D-0883E7789BD0}" srcOrd="0" destOrd="0" presId="urn:microsoft.com/office/officeart/2018/2/layout/IconVerticalSolidList"/>
    <dgm:cxn modelId="{9DF10665-BEA6-4917-9D73-D047FA2107B9}" srcId="{1307176E-2A18-4BAB-B354-FF4117F42079}" destId="{53527E07-06CB-4284-8AA9-2713D8180115}" srcOrd="0" destOrd="0" parTransId="{6D25E252-8C5F-45E3-A4E2-91EFB797A46C}" sibTransId="{3DD5CEDB-2A58-462E-A4F0-F2E9C0A1567A}"/>
    <dgm:cxn modelId="{41578070-C2DA-492B-BFC7-F81B7DC59454}" srcId="{1307176E-2A18-4BAB-B354-FF4117F42079}" destId="{EB3DFD32-32E0-48A4-9B38-F438BC073E8F}" srcOrd="1" destOrd="0" parTransId="{27470BBC-67C5-4813-AFBA-78DCD6BC8B80}" sibTransId="{C78EC0F9-7B32-4C7D-8E9E-BA3A834EE98B}"/>
    <dgm:cxn modelId="{8F5A1874-D790-4B17-82DD-43ABEB4FC2A0}" type="presOf" srcId="{EB3DFD32-32E0-48A4-9B38-F438BC073E8F}" destId="{0367A5F3-09DA-442A-BEB2-E64DD2AD182E}" srcOrd="0" destOrd="0" presId="urn:microsoft.com/office/officeart/2018/2/layout/IconVerticalSolidList"/>
    <dgm:cxn modelId="{337A3C77-0B81-4B54-9BCF-8B696428D83C}" type="presOf" srcId="{1FC4DED1-AA44-4982-9AE7-6C3F38556E70}" destId="{751789E5-5BD2-47F5-8C51-7EB37D705E91}" srcOrd="0" destOrd="0" presId="urn:microsoft.com/office/officeart/2018/2/layout/IconVerticalSolidList"/>
    <dgm:cxn modelId="{32CB25E9-E8BE-47E9-AA84-82FA053B6C84}" srcId="{1307176E-2A18-4BAB-B354-FF4117F42079}" destId="{1FC4DED1-AA44-4982-9AE7-6C3F38556E70}" srcOrd="2" destOrd="0" parTransId="{182908CD-237F-410B-8F98-FB8AB4BC0F8F}" sibTransId="{2BF8607C-8B52-42F7-82AF-275029D45F89}"/>
    <dgm:cxn modelId="{8367527F-F896-4D68-B611-BB4344B87EB1}" type="presParOf" srcId="{311B07A4-DBC1-4790-A28D-0883E7789BD0}" destId="{72262AD1-29CE-4678-8BD8-9D26F7B87317}" srcOrd="0" destOrd="0" presId="urn:microsoft.com/office/officeart/2018/2/layout/IconVerticalSolidList"/>
    <dgm:cxn modelId="{EF3BD3B1-98EC-46B0-BD33-400F1B59E57A}" type="presParOf" srcId="{72262AD1-29CE-4678-8BD8-9D26F7B87317}" destId="{3725F1E4-1A3D-480E-AB8D-8F1FEC33B53F}" srcOrd="0" destOrd="0" presId="urn:microsoft.com/office/officeart/2018/2/layout/IconVerticalSolidList"/>
    <dgm:cxn modelId="{CA1AE3C7-025E-4055-9C85-5DD243BF2198}" type="presParOf" srcId="{72262AD1-29CE-4678-8BD8-9D26F7B87317}" destId="{A39BC7B8-AB20-4E0B-9550-EDB84B748A86}" srcOrd="1" destOrd="0" presId="urn:microsoft.com/office/officeart/2018/2/layout/IconVerticalSolidList"/>
    <dgm:cxn modelId="{6BB352A2-E576-4FF3-86DC-9DB49782DAE1}" type="presParOf" srcId="{72262AD1-29CE-4678-8BD8-9D26F7B87317}" destId="{1287A6A9-85BF-4E13-92A9-FC4261D56927}" srcOrd="2" destOrd="0" presId="urn:microsoft.com/office/officeart/2018/2/layout/IconVerticalSolidList"/>
    <dgm:cxn modelId="{E6D6D50F-FC35-4226-9B5C-386385F338A7}" type="presParOf" srcId="{72262AD1-29CE-4678-8BD8-9D26F7B87317}" destId="{AB3A5502-1A56-4A4D-8E43-7DC9C2B3E170}" srcOrd="3" destOrd="0" presId="urn:microsoft.com/office/officeart/2018/2/layout/IconVerticalSolidList"/>
    <dgm:cxn modelId="{5187F00E-E6CF-4310-B14C-BED4D2243DDD}" type="presParOf" srcId="{311B07A4-DBC1-4790-A28D-0883E7789BD0}" destId="{D866CEB0-9B99-4ACA-B141-43DA6660D59A}" srcOrd="1" destOrd="0" presId="urn:microsoft.com/office/officeart/2018/2/layout/IconVerticalSolidList"/>
    <dgm:cxn modelId="{3B28B6D6-DF15-4A2B-B513-7D971A788000}" type="presParOf" srcId="{311B07A4-DBC1-4790-A28D-0883E7789BD0}" destId="{4133572C-3D87-469E-8BE5-E08170DA5086}" srcOrd="2" destOrd="0" presId="urn:microsoft.com/office/officeart/2018/2/layout/IconVerticalSolidList"/>
    <dgm:cxn modelId="{265DBD15-A7A8-4699-A640-103A3AF0ABB3}" type="presParOf" srcId="{4133572C-3D87-469E-8BE5-E08170DA5086}" destId="{B1D39D9D-1021-4136-B06A-6BD0E97D9A02}" srcOrd="0" destOrd="0" presId="urn:microsoft.com/office/officeart/2018/2/layout/IconVerticalSolidList"/>
    <dgm:cxn modelId="{E3EB86CF-EC2F-4C79-8C9A-92FAC35F065E}" type="presParOf" srcId="{4133572C-3D87-469E-8BE5-E08170DA5086}" destId="{B9FD3474-14DB-4123-B3E5-BB4866F9C4F6}" srcOrd="1" destOrd="0" presId="urn:microsoft.com/office/officeart/2018/2/layout/IconVerticalSolidList"/>
    <dgm:cxn modelId="{28AA907C-FDCF-4976-913E-1399FB0C7BCA}" type="presParOf" srcId="{4133572C-3D87-469E-8BE5-E08170DA5086}" destId="{B0934A9D-B2E0-4185-A99D-B058838741D4}" srcOrd="2" destOrd="0" presId="urn:microsoft.com/office/officeart/2018/2/layout/IconVerticalSolidList"/>
    <dgm:cxn modelId="{801C520D-DAF4-495B-AFB5-8AF804A74247}" type="presParOf" srcId="{4133572C-3D87-469E-8BE5-E08170DA5086}" destId="{0367A5F3-09DA-442A-BEB2-E64DD2AD182E}" srcOrd="3" destOrd="0" presId="urn:microsoft.com/office/officeart/2018/2/layout/IconVerticalSolidList"/>
    <dgm:cxn modelId="{F8D108BB-EFED-4C87-A67F-8907295C79F7}" type="presParOf" srcId="{311B07A4-DBC1-4790-A28D-0883E7789BD0}" destId="{6AE01C22-023B-47ED-9D5B-09A1DE645A4F}" srcOrd="3" destOrd="0" presId="urn:microsoft.com/office/officeart/2018/2/layout/IconVerticalSolidList"/>
    <dgm:cxn modelId="{8842B25E-8A14-49E6-8C83-7A4DBBFAA2AC}" type="presParOf" srcId="{311B07A4-DBC1-4790-A28D-0883E7789BD0}" destId="{BB11F1BD-526C-4669-A08B-C33D402DB2CC}" srcOrd="4" destOrd="0" presId="urn:microsoft.com/office/officeart/2018/2/layout/IconVerticalSolidList"/>
    <dgm:cxn modelId="{C4F27249-9674-4BEC-8A48-1102951B2F78}" type="presParOf" srcId="{BB11F1BD-526C-4669-A08B-C33D402DB2CC}" destId="{A6B45916-7C62-41D0-87EB-8B83B288E62F}" srcOrd="0" destOrd="0" presId="urn:microsoft.com/office/officeart/2018/2/layout/IconVerticalSolidList"/>
    <dgm:cxn modelId="{9DBF6006-0D2A-4539-9AAC-37507E2FAC1A}" type="presParOf" srcId="{BB11F1BD-526C-4669-A08B-C33D402DB2CC}" destId="{08D8953A-6297-4A8D-B240-F7A4D14BF0E8}" srcOrd="1" destOrd="0" presId="urn:microsoft.com/office/officeart/2018/2/layout/IconVerticalSolidList"/>
    <dgm:cxn modelId="{D6717DA9-F39D-4150-836C-577E163E96F1}" type="presParOf" srcId="{BB11F1BD-526C-4669-A08B-C33D402DB2CC}" destId="{8E2365C9-6D3E-4401-87F2-D27ECF958F8C}" srcOrd="2" destOrd="0" presId="urn:microsoft.com/office/officeart/2018/2/layout/IconVerticalSolidList"/>
    <dgm:cxn modelId="{62F0219B-6AA0-4E96-A773-4C3397423FAE}" type="presParOf" srcId="{BB11F1BD-526C-4669-A08B-C33D402DB2CC}" destId="{751789E5-5BD2-47F5-8C51-7EB37D705E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3F027-0798-427E-A405-A25B72F25623}">
      <dsp:nvSpPr>
        <dsp:cNvPr id="0" name=""/>
        <dsp:cNvSpPr/>
      </dsp:nvSpPr>
      <dsp:spPr>
        <a:xfrm>
          <a:off x="0" y="673"/>
          <a:ext cx="636422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59588-19C7-4E72-8E92-DC46CE95C13A}">
      <dsp:nvSpPr>
        <dsp:cNvPr id="0" name=""/>
        <dsp:cNvSpPr/>
      </dsp:nvSpPr>
      <dsp:spPr>
        <a:xfrm>
          <a:off x="0" y="673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Income Statement Drivers &amp; Assumptions </a:t>
          </a:r>
        </a:p>
      </dsp:txBody>
      <dsp:txXfrm>
        <a:off x="0" y="673"/>
        <a:ext cx="6364224" cy="787497"/>
      </dsp:txXfrm>
    </dsp:sp>
    <dsp:sp modelId="{F360DE21-6AB9-4CEC-928D-15B0D9D9AF5C}">
      <dsp:nvSpPr>
        <dsp:cNvPr id="0" name=""/>
        <dsp:cNvSpPr/>
      </dsp:nvSpPr>
      <dsp:spPr>
        <a:xfrm>
          <a:off x="0" y="788171"/>
          <a:ext cx="6364224" cy="0"/>
        </a:xfrm>
        <a:prstGeom prst="line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92C2F-32F6-487F-9960-3B2CC3593BE3}">
      <dsp:nvSpPr>
        <dsp:cNvPr id="0" name=""/>
        <dsp:cNvSpPr/>
      </dsp:nvSpPr>
      <dsp:spPr>
        <a:xfrm>
          <a:off x="0" y="788171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Income Statement </a:t>
          </a:r>
        </a:p>
      </dsp:txBody>
      <dsp:txXfrm>
        <a:off x="0" y="788171"/>
        <a:ext cx="6364224" cy="787497"/>
      </dsp:txXfrm>
    </dsp:sp>
    <dsp:sp modelId="{166F3F31-29A3-48AB-87EF-0E1F9414F919}">
      <dsp:nvSpPr>
        <dsp:cNvPr id="0" name=""/>
        <dsp:cNvSpPr/>
      </dsp:nvSpPr>
      <dsp:spPr>
        <a:xfrm>
          <a:off x="0" y="1575669"/>
          <a:ext cx="6364224" cy="0"/>
        </a:xfrm>
        <a:prstGeom prst="line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56932-F7A3-4E83-B6E9-AFF69DBCB402}">
      <dsp:nvSpPr>
        <dsp:cNvPr id="0" name=""/>
        <dsp:cNvSpPr/>
      </dsp:nvSpPr>
      <dsp:spPr>
        <a:xfrm>
          <a:off x="0" y="1575669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Balance Sheet Drivers &amp; Assumptions </a:t>
          </a:r>
        </a:p>
      </dsp:txBody>
      <dsp:txXfrm>
        <a:off x="0" y="1575669"/>
        <a:ext cx="6364224" cy="787497"/>
      </dsp:txXfrm>
    </dsp:sp>
    <dsp:sp modelId="{F9C335AE-8ABD-484A-A553-BFCCDDB389D0}">
      <dsp:nvSpPr>
        <dsp:cNvPr id="0" name=""/>
        <dsp:cNvSpPr/>
      </dsp:nvSpPr>
      <dsp:spPr>
        <a:xfrm>
          <a:off x="0" y="2363167"/>
          <a:ext cx="6364224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2767D-797A-49B5-9BAE-5F3D939FDCB6}">
      <dsp:nvSpPr>
        <dsp:cNvPr id="0" name=""/>
        <dsp:cNvSpPr/>
      </dsp:nvSpPr>
      <dsp:spPr>
        <a:xfrm>
          <a:off x="0" y="2363167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Balance Sheet </a:t>
          </a:r>
        </a:p>
      </dsp:txBody>
      <dsp:txXfrm>
        <a:off x="0" y="2363167"/>
        <a:ext cx="6364224" cy="787497"/>
      </dsp:txXfrm>
    </dsp:sp>
    <dsp:sp modelId="{80EF1DC9-A572-4182-A8F5-714425F2EFA0}">
      <dsp:nvSpPr>
        <dsp:cNvPr id="0" name=""/>
        <dsp:cNvSpPr/>
      </dsp:nvSpPr>
      <dsp:spPr>
        <a:xfrm>
          <a:off x="0" y="3150664"/>
          <a:ext cx="6364224" cy="0"/>
        </a:xfrm>
        <a:prstGeom prst="line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59FAA-1F15-4CC9-BDA2-9C8DC5C3F9D6}">
      <dsp:nvSpPr>
        <dsp:cNvPr id="0" name=""/>
        <dsp:cNvSpPr/>
      </dsp:nvSpPr>
      <dsp:spPr>
        <a:xfrm>
          <a:off x="0" y="3150664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Supporting Schedules (Depreciation &amp; Debt) </a:t>
          </a:r>
        </a:p>
      </dsp:txBody>
      <dsp:txXfrm>
        <a:off x="0" y="3150664"/>
        <a:ext cx="6364224" cy="787497"/>
      </dsp:txXfrm>
    </dsp:sp>
    <dsp:sp modelId="{CA967813-2DEB-48FD-B246-7FBAAE288A54}">
      <dsp:nvSpPr>
        <dsp:cNvPr id="0" name=""/>
        <dsp:cNvSpPr/>
      </dsp:nvSpPr>
      <dsp:spPr>
        <a:xfrm>
          <a:off x="0" y="3938162"/>
          <a:ext cx="6364224" cy="0"/>
        </a:xfrm>
        <a:prstGeom prst="line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2F03D-8471-4FC2-AB78-2FF694C58EFF}">
      <dsp:nvSpPr>
        <dsp:cNvPr id="0" name=""/>
        <dsp:cNvSpPr/>
      </dsp:nvSpPr>
      <dsp:spPr>
        <a:xfrm>
          <a:off x="0" y="3938162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Statement of Cash Flows </a:t>
          </a:r>
        </a:p>
      </dsp:txBody>
      <dsp:txXfrm>
        <a:off x="0" y="3938162"/>
        <a:ext cx="6364224" cy="787497"/>
      </dsp:txXfrm>
    </dsp:sp>
    <dsp:sp modelId="{67FF3405-96AB-4280-BF8E-F17E238D95F6}">
      <dsp:nvSpPr>
        <dsp:cNvPr id="0" name=""/>
        <dsp:cNvSpPr/>
      </dsp:nvSpPr>
      <dsp:spPr>
        <a:xfrm>
          <a:off x="0" y="4725660"/>
          <a:ext cx="6364224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80835-F52E-471C-89C0-A006553E694A}">
      <dsp:nvSpPr>
        <dsp:cNvPr id="0" name=""/>
        <dsp:cNvSpPr/>
      </dsp:nvSpPr>
      <dsp:spPr>
        <a:xfrm>
          <a:off x="0" y="4725660"/>
          <a:ext cx="6364224" cy="78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Financial Ratios (Historical &amp; Projected) </a:t>
          </a:r>
        </a:p>
      </dsp:txBody>
      <dsp:txXfrm>
        <a:off x="0" y="4725660"/>
        <a:ext cx="6364224" cy="7874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5F1E4-1A3D-480E-AB8D-8F1FEC33B53F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BC7B8-AB20-4E0B-9550-EDB84B748A86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A5502-1A56-4A4D-8E43-7DC9C2B3E170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Revenue growth remains steady but moderates vs. prior years </a:t>
          </a:r>
          <a:endParaRPr lang="en-US" sz="2500" kern="1200"/>
        </a:p>
      </dsp:txBody>
      <dsp:txXfrm>
        <a:off x="1819120" y="673"/>
        <a:ext cx="4545103" cy="1574995"/>
      </dsp:txXfrm>
    </dsp:sp>
    <dsp:sp modelId="{B1D39D9D-1021-4136-B06A-6BD0E97D9A02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D3474-14DB-4123-B3E5-BB4866F9C4F6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7A5F3-09DA-442A-BEB2-E64DD2AD182E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Margins slightly pressured short-term, then stabilize </a:t>
          </a:r>
          <a:endParaRPr lang="en-US" sz="2500" kern="1200"/>
        </a:p>
      </dsp:txBody>
      <dsp:txXfrm>
        <a:off x="1819120" y="1969418"/>
        <a:ext cx="4545103" cy="1574995"/>
      </dsp:txXfrm>
    </dsp:sp>
    <dsp:sp modelId="{A6B45916-7C62-41D0-87EB-8B83B288E62F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8953A-6297-4A8D-B240-F7A4D14BF0E8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789E5-5BD2-47F5-8C51-7EB37D705E91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Net income grows consistently with revenue 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75977-4AAB-4D66-B32D-1EECC88EF62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BB546-A603-4B35-9FBA-04BFB7D30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4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BB546-A603-4B35-9FBA-04BFB7D30C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88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D729-FC18-59D0-A0AE-538E4CA88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C8A4C-BB08-8298-4DF5-CBFE59C58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F0A26-5E84-3389-34D7-F0E17EB9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A215-CD65-EE37-25E4-DC668454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92107-E0B2-C655-ECB2-9DFB0461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C082-1475-9EAD-8843-5A30344A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D4EC-A097-14C4-2035-37BB97DCA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7CFA-44DA-927D-7386-21680F35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EF78B-C4F5-80F7-50BE-F97A45F7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9672A-8273-1910-4650-0B5EA102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2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234C-4D7F-9488-387E-113BF1F2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1E213-6276-B476-D294-EB9FDC01B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CF97C-4748-ACAC-7751-D9A83D94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CE9E-FA0C-63FB-49A5-5BD60E16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86F5-723D-0004-3367-15238B44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CD7A-BEB6-7ECD-0C28-7046FFC4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D599-2AFF-13D0-1C49-53E28F78F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7503A-74D8-3D41-5D96-C4C0178DE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5068-FD64-B3E1-EBCB-DE9F0CD4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2C5AF-F16D-4F4E-47F5-79E3BC75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AAEF1-B40A-3D9B-2F3B-DEAF7B835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9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6461-660F-F8FE-779B-9529EECA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5115C-AEB6-A1D2-F7F6-714D86C2F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ED8AB-DBBE-88B8-C299-A1E5CF93E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3B6B3-B948-9122-2310-5BE9EF583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5A4F5-05FB-F4F3-1391-32006EC7E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A2181-01C1-21AD-01DA-804F4BDD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DDF98-ADE6-D7D2-655A-16A389EB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59BE4-A97A-AA3D-26FB-4EA26609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0897-9728-E311-0097-C19CD3DA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0BC88-8B78-6CA6-CA54-EA661910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6C91A-8A49-5B4A-CFAD-5B12B65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F8C71-0705-0FE0-7599-86407E17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2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63870-864B-9547-BC1C-619B8BDE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7B35D-06AF-79E3-64B7-78A9BB10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BDFCD-56FD-109A-5908-A3884FFA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4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A0C3-7305-4B43-913B-50D8FA96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76B7-A43D-C4A1-DD70-468F79BB6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88F71-7145-5C28-49D1-77CF96204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67B46-BE15-290B-31CE-287684FC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ED213-DF8B-7C62-B217-057A0A11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F6258-AE8C-2E82-3CE3-0B500D30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0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CF1C-34BF-BCB6-4CA8-EF87033D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B8C5B-B820-B2A9-9893-CF441CB2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B1FE9-90B8-D550-D173-B9F28B2DF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1AC2A-38F1-F3DC-ABD7-AD744007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C645-9A2A-ACE0-9C37-40652412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E567B-E7A5-8623-CEF1-65783EEB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9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20B4-95FF-23C5-54F4-898C46F1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43EE3-C304-9212-3414-C32021593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BA63A-E663-3F14-A3CB-FF9738C3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E869-C595-D593-ED9F-26F73639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4ABB9-3343-ACA1-24C4-B45FC3F2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2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233FD-0855-A637-9A77-E2BC35514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76413-BEF9-DB54-0CA6-64DF54473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D83A4-3D57-C8AD-FDB1-CBD97D37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D3606-DACB-1CE6-BA03-1A378D81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F453C-5C1A-3141-617C-90100295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84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30F58-2955-69B8-7FF4-8B932820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88598-9C6E-4794-0F76-5DEAC0A19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6DD89-1B8B-2B8E-D727-6F3732F80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9716F-6B5C-4C77-87E2-E9D0060652B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E6AB5-2222-8BB0-18C3-CBEDF6D92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F003-3FC4-2AF9-A97A-46D5227EC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E6172-9A53-449D-8D38-48A971212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8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.lululemon.com/investors/financial-information/annual-reports" TargetMode="External"/><Relationship Id="rId2" Type="http://schemas.openxmlformats.org/officeDocument/2006/relationships/hyperlink" Target="https://corporate.lululemon.com/~/media/Files/L/Lululemon/investors/annual-reports/lululemon-2024-annual-repor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c.gov/Archives/edgar/data/1397187/000139718724000010/lulu-20240128.htm" TargetMode="External"/><Relationship Id="rId5" Type="http://schemas.openxmlformats.org/officeDocument/2006/relationships/hyperlink" Target="https://corporate.lululemon.com/investors" TargetMode="External"/><Relationship Id="rId4" Type="http://schemas.openxmlformats.org/officeDocument/2006/relationships/hyperlink" Target="https://corporate.lululemon.com/investors/financial-information/results-cen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10E88-73CF-36AB-A0E0-AE57AFE55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LuLuLemon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FB41E-E564-CFEC-0955-11B1036BE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Financial Forecasts &amp; Analysis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9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DA110-22EC-B5D9-66C1-4DD1C9A2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16D0FE-479E-ED68-9B4A-879B966B89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40226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840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3442D-313D-B17A-7D8A-E504AD3F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Historical Income Statement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460E32-FBB9-5FC8-A4C4-8B690F36B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369157"/>
              </p:ext>
            </p:extLst>
          </p:nvPr>
        </p:nvGraphicFramePr>
        <p:xfrm>
          <a:off x="1016519" y="2112579"/>
          <a:ext cx="10182906" cy="4192811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{5C22544A-7EE6-4342-B048-85BDC9FD1C3A}</a:tableStyleId>
              </a:tblPr>
              <a:tblGrid>
                <a:gridCol w="4355808">
                  <a:extLst>
                    <a:ext uri="{9D8B030D-6E8A-4147-A177-3AD203B41FA5}">
                      <a16:colId xmlns:a16="http://schemas.microsoft.com/office/drawing/2014/main" val="1781135157"/>
                    </a:ext>
                  </a:extLst>
                </a:gridCol>
                <a:gridCol w="1942366">
                  <a:extLst>
                    <a:ext uri="{9D8B030D-6E8A-4147-A177-3AD203B41FA5}">
                      <a16:colId xmlns:a16="http://schemas.microsoft.com/office/drawing/2014/main" val="4176128707"/>
                    </a:ext>
                  </a:extLst>
                </a:gridCol>
                <a:gridCol w="1942366">
                  <a:extLst>
                    <a:ext uri="{9D8B030D-6E8A-4147-A177-3AD203B41FA5}">
                      <a16:colId xmlns:a16="http://schemas.microsoft.com/office/drawing/2014/main" val="3053504186"/>
                    </a:ext>
                  </a:extLst>
                </a:gridCol>
                <a:gridCol w="1942366">
                  <a:extLst>
                    <a:ext uri="{9D8B030D-6E8A-4147-A177-3AD203B41FA5}">
                      <a16:colId xmlns:a16="http://schemas.microsoft.com/office/drawing/2014/main" val="2284551567"/>
                    </a:ext>
                  </a:extLst>
                </a:gridCol>
              </a:tblGrid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2023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2024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218532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9.6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10.6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11.1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91413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COGS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4.0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053912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Gross Profit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5.6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6.3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6.3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62866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Operating Exp.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3.5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3.8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4.1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323350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EBIT (Operating Income)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2.1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2.2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550630"/>
                  </a:ext>
                </a:extLst>
              </a:tr>
              <a:tr h="59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bg1"/>
                          </a:solidFill>
                        </a:rPr>
                        <a:t>Net Income</a:t>
                      </a:r>
                      <a:endParaRPr lang="en-US" sz="2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cap="none" spc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marL="135732" marR="135732" marT="67867" marB="1357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91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99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alculator, pen, compass, money and a paper with graphs printed on it">
            <a:extLst>
              <a:ext uri="{FF2B5EF4-FFF2-40B4-BE49-F238E27FC236}">
                <a16:creationId xmlns:a16="http://schemas.microsoft.com/office/drawing/2014/main" id="{65E90719-FF86-0756-F675-513B562C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4" r="7523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30ADDD-A004-0938-16F4-A905F18F4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197" y="187759"/>
            <a:ext cx="9491508" cy="18999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4000"/>
              <a:t>Revenue Drivers &amp; Assumptions</a:t>
            </a:r>
            <a:endParaRPr kumimoji="0" lang="en-US" altLang="en-US" sz="4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E33E96-7DC0-243A-E34D-74420BA20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18752"/>
            <a:ext cx="8044543" cy="43582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sz="2000" b="1"/>
              <a:t>Revenue Drivers &amp; Assumptions</a:t>
            </a:r>
            <a:endParaRPr lang="en-US" sz="2000"/>
          </a:p>
          <a:p>
            <a:r>
              <a:rPr lang="en-US" sz="2000"/>
              <a:t>Revenue projected to grow 6–8% annually over the forecast period </a:t>
            </a:r>
          </a:p>
          <a:p>
            <a:r>
              <a:rPr lang="en-US" sz="2000"/>
              <a:t>Aligned with recent company guidance and moderating growth trends </a:t>
            </a:r>
          </a:p>
          <a:p>
            <a:r>
              <a:rPr lang="en-US" sz="2000" b="1"/>
              <a:t>Key Drivers</a:t>
            </a:r>
            <a:endParaRPr lang="en-US" sz="2000"/>
          </a:p>
          <a:p>
            <a:r>
              <a:rPr lang="en-US" sz="2000"/>
              <a:t>Continued international expansion </a:t>
            </a:r>
          </a:p>
          <a:p>
            <a:r>
              <a:rPr lang="en-US" sz="2000"/>
              <a:t>New store openings and product innovation </a:t>
            </a:r>
          </a:p>
          <a:p>
            <a:r>
              <a:rPr lang="en-US" sz="2000"/>
              <a:t>Strong brand positioning and pricing power </a:t>
            </a:r>
          </a:p>
          <a:p>
            <a:r>
              <a:rPr lang="en-US" sz="2000" b="1"/>
              <a:t>Key Risks</a:t>
            </a:r>
            <a:endParaRPr lang="en-US" sz="2000"/>
          </a:p>
          <a:p>
            <a:r>
              <a:rPr lang="en-US" sz="2000"/>
              <a:t>Slowing demand in North America </a:t>
            </a:r>
          </a:p>
          <a:p>
            <a:r>
              <a:rPr lang="en-US" sz="2000"/>
              <a:t>Increasing competition within the athleisure market </a:t>
            </a:r>
          </a:p>
          <a:p>
            <a:r>
              <a:rPr lang="en-US" sz="2000"/>
              <a:t>Potential margin pressure from promotions and costs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0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Magnifying glass showing decling performance">
            <a:extLst>
              <a:ext uri="{FF2B5EF4-FFF2-40B4-BE49-F238E27FC236}">
                <a16:creationId xmlns:a16="http://schemas.microsoft.com/office/drawing/2014/main" id="{96492F00-0079-64E1-D02C-EEDCFF6B2B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220" b="1451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38FD570-FDD3-35D2-A001-E821690E3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199" y="557189"/>
            <a:ext cx="5155263" cy="55718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r>
              <a:rPr lang="en-US">
                <a:solidFill>
                  <a:srgbClr val="FFFFFF"/>
                </a:solidFill>
              </a:rPr>
              <a:t>Income Statement Assumptions</a:t>
            </a:r>
            <a:br>
              <a:rPr lang="en-US" b="1">
                <a:solidFill>
                  <a:srgbClr val="FFFFFF"/>
                </a:solidFill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037BF5F-5E06-1B86-80A4-B047EEF98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5375" y="557189"/>
            <a:ext cx="5158424" cy="55718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Income Statement Assumptions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</a:rPr>
              <a:t>COGS:</a:t>
            </a:r>
            <a:r>
              <a:rPr lang="en-US" sz="2000">
                <a:solidFill>
                  <a:srgbClr val="FFFFFF"/>
                </a:solidFill>
              </a:rPr>
              <a:t> ~43–45% of revenue 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Reflects stable gross margin in the mid-50% range </a:t>
            </a:r>
          </a:p>
          <a:p>
            <a:r>
              <a:rPr lang="en-US" sz="2000" b="1">
                <a:solidFill>
                  <a:srgbClr val="FFFFFF"/>
                </a:solidFill>
              </a:rPr>
              <a:t>Operating Expenses:</a:t>
            </a:r>
            <a:r>
              <a:rPr lang="en-US" sz="2000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Grow in line with revenue 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Driven by marketing, store expansion, and digital investment </a:t>
            </a:r>
          </a:p>
          <a:p>
            <a:r>
              <a:rPr lang="en-US" sz="2000" b="1">
                <a:solidFill>
                  <a:srgbClr val="FFFFFF"/>
                </a:solidFill>
              </a:rPr>
              <a:t>Tax Rate:</a:t>
            </a:r>
            <a:r>
              <a:rPr lang="en-US" sz="2000">
                <a:solidFill>
                  <a:srgbClr val="FFFFFF"/>
                </a:solidFill>
              </a:rPr>
              <a:t> ~30% 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Consistent with historical levels </a:t>
            </a:r>
          </a:p>
          <a:p>
            <a:r>
              <a:rPr lang="en-US" sz="2000" b="1">
                <a:solidFill>
                  <a:srgbClr val="FFFFFF"/>
                </a:solidFill>
              </a:rPr>
              <a:t>Interest Expense:</a:t>
            </a:r>
            <a:r>
              <a:rPr lang="en-US" sz="2000">
                <a:solidFill>
                  <a:srgbClr val="FFFFFF"/>
                </a:solidFill>
              </a:rPr>
              <a:t> </a:t>
            </a:r>
          </a:p>
          <a:p>
            <a:pPr lvl="1"/>
            <a:r>
              <a:rPr lang="en-US" sz="2000">
                <a:solidFill>
                  <a:srgbClr val="FFFFFF"/>
                </a:solidFill>
              </a:rPr>
              <a:t>Assumed stable over forecast period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5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54268-A13B-7A2D-344B-0D58197D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Projected Income Statement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15236D6-5DF1-1356-85CC-D003C4C0D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086001"/>
              </p:ext>
            </p:extLst>
          </p:nvPr>
        </p:nvGraphicFramePr>
        <p:xfrm>
          <a:off x="1620714" y="2112579"/>
          <a:ext cx="8974516" cy="4192809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3404905">
                  <a:extLst>
                    <a:ext uri="{9D8B030D-6E8A-4147-A177-3AD203B41FA5}">
                      <a16:colId xmlns:a16="http://schemas.microsoft.com/office/drawing/2014/main" val="229255382"/>
                    </a:ext>
                  </a:extLst>
                </a:gridCol>
                <a:gridCol w="1086708">
                  <a:extLst>
                    <a:ext uri="{9D8B030D-6E8A-4147-A177-3AD203B41FA5}">
                      <a16:colId xmlns:a16="http://schemas.microsoft.com/office/drawing/2014/main" val="2254776381"/>
                    </a:ext>
                  </a:extLst>
                </a:gridCol>
                <a:gridCol w="1494301">
                  <a:extLst>
                    <a:ext uri="{9D8B030D-6E8A-4147-A177-3AD203B41FA5}">
                      <a16:colId xmlns:a16="http://schemas.microsoft.com/office/drawing/2014/main" val="923377753"/>
                    </a:ext>
                  </a:extLst>
                </a:gridCol>
                <a:gridCol w="1494301">
                  <a:extLst>
                    <a:ext uri="{9D8B030D-6E8A-4147-A177-3AD203B41FA5}">
                      <a16:colId xmlns:a16="http://schemas.microsoft.com/office/drawing/2014/main" val="1656259550"/>
                    </a:ext>
                  </a:extLst>
                </a:gridCol>
                <a:gridCol w="1494301">
                  <a:extLst>
                    <a:ext uri="{9D8B030D-6E8A-4147-A177-3AD203B41FA5}">
                      <a16:colId xmlns:a16="http://schemas.microsoft.com/office/drawing/2014/main" val="2999952534"/>
                    </a:ext>
                  </a:extLst>
                </a:gridCol>
              </a:tblGrid>
              <a:tr h="651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($ in billions)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2026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2027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2028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17692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Revenue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$11.8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$12.6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$13.5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029544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COGS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$5.3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$5.6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$6.0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68601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Gross Profit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$6.5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$7.0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$7.5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988980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Operating Exp.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$4.3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$4.6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$5.0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66135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EBIT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$2.3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$2.4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$2.5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001150"/>
                  </a:ext>
                </a:extLst>
              </a:tr>
              <a:tr h="590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Net Income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$1.6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$1.7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$1.8</a:t>
                      </a:r>
                    </a:p>
                  </a:txBody>
                  <a:tcPr marL="10070" marR="10070" marT="182980" marB="50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098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99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BF113-7655-E571-3AC5-B6513730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Projected Income Statement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10F73FDA-3CA6-3966-3C6E-2463C1D10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59146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553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B8A6-377F-08C3-AAAA-3E1C984F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" y="2356899"/>
            <a:ext cx="2685775" cy="486259"/>
          </a:xfrm>
        </p:spPr>
        <p:txBody>
          <a:bodyPr>
            <a:noAutofit/>
          </a:bodyPr>
          <a:lstStyle/>
          <a:p>
            <a:pPr algn="ctr"/>
            <a:r>
              <a:rPr lang="en-US" sz="4000" b="1"/>
              <a:t>Historical Balance Sheet</a:t>
            </a:r>
            <a:br>
              <a:rPr lang="en-US" b="1"/>
            </a:br>
            <a:r>
              <a:rPr lang="en-US" sz="3200">
                <a:ea typeface="+mj-lt"/>
                <a:cs typeface="+mj-lt"/>
              </a:rPr>
              <a:t>(In $ Millions)</a:t>
            </a:r>
            <a:endParaRPr lang="en-US" sz="3200" b="1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77E81F2-3C7B-BFE3-F2C9-CFFC50865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450"/>
              </p:ext>
            </p:extLst>
          </p:nvPr>
        </p:nvGraphicFramePr>
        <p:xfrm>
          <a:off x="2607377" y="146931"/>
          <a:ext cx="9344551" cy="6525262"/>
        </p:xfrm>
        <a:graphic>
          <a:graphicData uri="http://schemas.openxmlformats.org/drawingml/2006/table">
            <a:tbl>
              <a:tblPr/>
              <a:tblGrid>
                <a:gridCol w="35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Assets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050" b="0" i="0" u="none" strike="noStrike" noProof="0">
                        <a:latin typeface="Aptos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Cash &amp; Cash Equivalents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$1,155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$2,244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$1,984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Accounts Receivable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$133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$125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$120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Inventories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$1,447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$1,324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$1,442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$424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$368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$434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376745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$3,159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$4,061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$3,980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165070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ROU lease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$969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$1,266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$1,416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009595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Plant, Property &amp; Equipment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$1,270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$1,546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$1,781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Non-Current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$210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$219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$426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45996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  <a:endParaRPr lang="en-US" sz="1050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$5,607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$7,092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$7,603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26888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Accounts Payable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$173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$348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$271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Current Lease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$208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$249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$275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Accrued &amp; Other Current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$1,111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$1,034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$1,094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Current Liabilities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$1,492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$1,631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$1,840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Non-Current Lease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$862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$1,154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$1,301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Non-Current Liabilities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$104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$75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$139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58655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$2,458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$2,860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$3,279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Common Stock &amp; APIC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$475</a:t>
                      </a:r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$576</a:t>
                      </a:r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$639</a:t>
                      </a:r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E8E8E8"/>
                      </a:solidFill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78728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</a:rPr>
                        <a:t>Retained Earnings</a:t>
                      </a:r>
                      <a:endParaRPr lang="en-US" i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$2,926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$3,920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$4,109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339031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  <a:latin typeface="Aptos"/>
                        </a:rPr>
                        <a:t>Accumulated Other Comp. Loss</a:t>
                      </a:r>
                      <a:endParaRPr lang="en-US" i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</a:rPr>
                        <a:t>($252)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</a:rPr>
                        <a:t>($264)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</a:rPr>
                        <a:t>($424)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109008"/>
                  </a:ext>
                </a:extLst>
              </a:tr>
              <a:tr h="21347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 &amp; Equity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$5,607</a:t>
                      </a:r>
                      <a:endParaRPr lang="en-US" sz="1050" b="1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$7,092</a:t>
                      </a:r>
                      <a:endParaRPr lang="en-US" sz="1050" b="1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</a:rPr>
                        <a:t>$7,603</a:t>
                      </a:r>
                      <a:endParaRPr lang="en-US" sz="1050" b="1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174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25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1D36-119A-8D4A-9F67-91A7E295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495" y="1933298"/>
            <a:ext cx="2818296" cy="134764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Projected Balance Sheet</a:t>
            </a:r>
            <a:br>
              <a:rPr lang="en-US" b="1"/>
            </a:br>
            <a:r>
              <a:rPr lang="en-US" sz="3200">
                <a:ea typeface="+mj-lt"/>
                <a:cs typeface="+mj-lt"/>
              </a:rPr>
              <a:t>(In $ Millions)</a:t>
            </a:r>
            <a:endParaRPr lang="en-US" sz="320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C637F95-F9FD-4E2A-52D1-6B92D1F0B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49927"/>
              </p:ext>
            </p:extLst>
          </p:nvPr>
        </p:nvGraphicFramePr>
        <p:xfrm>
          <a:off x="2607377" y="146931"/>
          <a:ext cx="9344551" cy="6515080"/>
        </p:xfrm>
        <a:graphic>
          <a:graphicData uri="http://schemas.openxmlformats.org/drawingml/2006/table">
            <a:tbl>
              <a:tblPr/>
              <a:tblGrid>
                <a:gridCol w="35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Assets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050" b="0" i="0" u="none" strike="noStrike" noProof="0">
                        <a:latin typeface="Aptos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Cash &amp; Cash Equivalents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$2,129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$2,593 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$2,851 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Accounts Receivable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$132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$145 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$160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Inventories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$1,586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$1,745 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$1,919 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$444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$489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$520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376745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$4,292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$4,973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$5,450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165070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ROU lease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$1,717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$2,001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$2,379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009595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Plant, Property &amp; Equipment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$2,110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$2,465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$2,900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Non-Current Assets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$469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$515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$567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745996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  <a:endParaRPr lang="en-US" sz="1050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  <a:latin typeface="Aptos"/>
                        </a:rPr>
                        <a:t>$8,587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  <a:latin typeface="Aptos"/>
                        </a:rPr>
                        <a:t>$9,954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1A1A1A"/>
                          </a:solidFill>
                          <a:latin typeface="Aptos"/>
                        </a:rPr>
                        <a:t>$11,297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26888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Accounts Payable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$304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$340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$381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Current Lease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$316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$357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$407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Accrued &amp; Other Current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$1,203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$1,324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$1,456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Total Current Liabilities</a:t>
                      </a:r>
                      <a:endParaRPr lang="en-US" sz="10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$1,823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$2,021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$2,243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Non-Current Lease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$1,604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$1,893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$2,285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i="1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Other Non-Current Liabilities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$153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$168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$185</a:t>
                      </a:r>
                      <a:endParaRPr lang="en-US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58655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$3,580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$4,082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$4,713</a:t>
                      </a:r>
                      <a:endParaRPr lang="en-US" b="1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Common Stock &amp; APIC</a:t>
                      </a: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$652</a:t>
                      </a:r>
                      <a:endParaRPr lang="en-US"/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$665</a:t>
                      </a:r>
                      <a:endParaRPr lang="en-US"/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$678</a:t>
                      </a:r>
                      <a:endParaRPr lang="en-US"/>
                    </a:p>
                  </a:txBody>
                  <a:tcPr marL="121920" marR="121920" marT="60959" marB="60959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E8E8E8"/>
                      </a:solidFill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78728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</a:rPr>
                        <a:t>Retained Earnings</a:t>
                      </a:r>
                      <a:endParaRPr lang="en-US" i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$4,805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$5,687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$6,405</a:t>
                      </a:r>
                      <a:endParaRPr lang="en-US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339031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 b="0" i="1" u="none" strike="noStrike" noProof="0">
                          <a:solidFill>
                            <a:srgbClr val="64748B"/>
                          </a:solidFill>
                          <a:latin typeface="Aptos"/>
                        </a:rPr>
                        <a:t>Accumulated Other Comp. Loss</a:t>
                      </a:r>
                      <a:endParaRPr lang="en-US" i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  <a:latin typeface="Aptos"/>
                        </a:rPr>
                        <a:t>($450)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  <a:latin typeface="Aptos"/>
                        </a:rPr>
                        <a:t>($480)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0000"/>
                          </a:solidFill>
                          <a:latin typeface="Aptos"/>
                        </a:rPr>
                        <a:t>($500)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109008"/>
                  </a:ext>
                </a:extLst>
              </a:tr>
              <a:tr h="27494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 &amp; Equity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$8,587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</a:rPr>
                        <a:t>$9,954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$11,297</a:t>
                      </a:r>
                      <a:endParaRPr lang="en-US" b="1"/>
                    </a:p>
                  </a:txBody>
                  <a:tcPr marL="121920" marR="121920" marT="60959" marB="60959">
                    <a:lnL w="6350">
                      <a:solidFill>
                        <a:srgbClr val="E8E8E8"/>
                      </a:solidFill>
                    </a:lnL>
                    <a:lnR w="6350">
                      <a:solidFill>
                        <a:srgbClr val="E8E8E8"/>
                      </a:solidFill>
                    </a:lnR>
                    <a:lnT w="6350">
                      <a:solidFill>
                        <a:srgbClr val="E8E8E8"/>
                      </a:solidFill>
                    </a:lnT>
                    <a:lnB w="6350">
                      <a:solidFill>
                        <a:srgbClr val="E8E8E8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474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5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15D5C-4BCA-01A4-2E7E-F8CB0410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D7797-EA11-24F3-86B5-E83A201C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29" y="119743"/>
            <a:ext cx="6422768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Asset Drivers &amp; Projection Assumptions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96F9E9-63E5-358A-A74F-B7BC28BEDF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078358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Cash &amp; Cash Equivalents:</a:t>
            </a:r>
            <a:endParaRPr lang="en-US" sz="1200" b="1"/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Cash grows from $1.98B to $2.85B because Lululemon’s high operational margins exceed its capital requirements. The upward trend proves the company is a is fully self-funded.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Accounts Receivable (A/R):</a:t>
            </a:r>
            <a:endParaRPr lang="en-US" sz="1200" b="1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DSO (Days sales outstanding) : Constant 4-5 day Days Sales Outstanding because most customers pay immediately via credit card or cash at the point of sale.</a:t>
            </a:r>
            <a:endParaRPr lang="en-US" sz="1200"/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Projected to grow at a steady rate annually to match the Revenue growth. Because Lululemon is a Direct-to-Consumer brand, the balance remains low as most cash is collected at the point of sale.</a:t>
            </a:r>
          </a:p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Inventories: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Driven by a steady 10-15% annual growth.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This growth is necessary to provide Safety Stock for the new stores projected in the PP&amp;E line. It ensures the company maintains its Inventory Turnover efficiency while expanding into new global markets.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DIO (Days Inventory Outstanding): We measured it to be around 110 – 115 because it ensures enough safety stock" is available without creating a massive surplus that leads to markdowns.</a:t>
            </a:r>
          </a:p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ROU Lease Assets &amp; PP&amp;E:</a:t>
            </a:r>
          </a:p>
          <a:p>
            <a:pPr>
              <a:buFont typeface="Calibri"/>
              <a:buChar char="-"/>
            </a:pPr>
            <a:r>
              <a:rPr lang="en-US" sz="1200">
                <a:ea typeface="+mn-lt"/>
                <a:cs typeface="+mn-lt"/>
              </a:rPr>
              <a:t>Aggressive growth around 18-20% in 2026E, tapering slightly.</a:t>
            </a:r>
            <a:endParaRPr lang="en-US" sz="1200"/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Justified by Lululemon’s International Expansion strategy. The increase in ROU Assets and PP&amp;E supports the plan to quadruple international revenue by opening flagship stores in high-traffic hubs like China.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800"/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099E3CE5-ADAF-9AFF-933B-84473B01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21" r="25909" b="-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300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50412-5CE8-F06D-A6EB-2DAED2B8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10102-BA5D-EE05-6499-53F2C5D1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2219712"/>
            <a:ext cx="4230100" cy="1754640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 Liabilities and Equity Drivers &amp; Projection Assumptions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07CD5C-D90A-B447-D833-33CE55CF4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3158" y="649480"/>
            <a:ext cx="48624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1200" b="1">
                <a:ea typeface="+mn-lt"/>
                <a:cs typeface="+mn-lt"/>
              </a:rPr>
              <a:t>Accounts Payable (A/P):</a:t>
            </a:r>
            <a:endParaRPr lang="en-US" sz="1200" b="1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Growing at around 12% annually.</a:t>
            </a:r>
            <a:endParaRPr lang="en-US" sz="1200"/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We projected A/P to grow slightly faster than Inventory.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r>
              <a:rPr lang="en-US" sz="1200"/>
              <a:t>DPO (Days Payables Outstanding): We projected this to be around 20 – 23 days because this reflects </a:t>
            </a:r>
            <a:r>
              <a:rPr lang="en-US" sz="1200">
                <a:ea typeface="+mn-lt"/>
                <a:cs typeface="+mn-lt"/>
              </a:rPr>
              <a:t>stable relationships with its Tier 1 manufacturers. </a:t>
            </a:r>
          </a:p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Lease Liabilities (Current &amp; Non-Current):</a:t>
            </a:r>
            <a:endParaRPr lang="en-US" sz="1200" b="1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Direct correlation with ROU Assets</a:t>
            </a:r>
            <a:endParaRPr lang="en-US" sz="1200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Justification: These represent the present value of future rent obligations. As the store count increases, the liability grows to reflect the legal commitment to those new lease contracts.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Common Stock &amp; APIC:</a:t>
            </a:r>
            <a:endParaRPr lang="en-US" sz="1200" b="1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Stable, organic growth of  around $13M annually.</a:t>
            </a:r>
            <a:endParaRPr lang="en-US" sz="1200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This assumes no major dilution. The small annual increase represents Stock-Based Compensation  for employees.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ea typeface="+mn-lt"/>
                <a:cs typeface="+mn-lt"/>
              </a:rPr>
              <a:t>Retained Earnings: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Retained Earnings is the primary equity driver, and it is consistent with teammate's Income Statement.</a:t>
            </a:r>
            <a:endParaRPr lang="en-US" sz="1200"/>
          </a:p>
          <a:p>
            <a:pPr>
              <a:buFont typeface="Calibri" panose="020B0604020202020204" pitchFamily="34" charset="0"/>
              <a:buChar char="-"/>
            </a:pPr>
            <a:r>
              <a:rPr lang="en-US" sz="1200">
                <a:ea typeface="+mn-lt"/>
                <a:cs typeface="+mn-lt"/>
              </a:rPr>
              <a:t>Every year, we added the projected Net Income ($1.6B, $1.7B, $1.8B) and subtracted a $900M share buyback. This reflects Lululemon's strategy of reinvesting nearly 50% of its profits directly back into the company's </a:t>
            </a:r>
            <a:r>
              <a:rPr lang="en-US" sz="1100">
                <a:ea typeface="+mn-lt"/>
                <a:cs typeface="+mn-lt"/>
              </a:rPr>
              <a:t>equity base while returning the rest to shareholders by buybacks.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>
              <a:spcBef>
                <a:spcPct val="0"/>
              </a:spcBef>
              <a:spcAft>
                <a:spcPct val="0"/>
              </a:spcAft>
              <a:buFont typeface="Calibri" panose="020B0604020202020204" pitchFamily="34" charset="0"/>
              <a:buChar char="-"/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6257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34137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2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Schedule</a:t>
            </a:r>
            <a:endParaRPr lang="en-US" sz="4267"/>
          </a:p>
        </p:txBody>
      </p:sp>
      <p:sp>
        <p:nvSpPr>
          <p:cNvPr id="3" name="Text 1"/>
          <p:cNvSpPr/>
          <p:nvPr/>
        </p:nvSpPr>
        <p:spPr>
          <a:xfrm>
            <a:off x="487680" y="103632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in millions  |  Straight-line method  |  D&amp;A assumed at ~4% of Revenue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87680" y="1487424"/>
            <a:ext cx="11216640" cy="304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7680" y="1645920"/>
          <a:ext cx="10241280" cy="4194048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2025A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(ref)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$11,100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$11,800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$12,600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$13,500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 Rate (% Rev)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D&amp;A Expense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PP&amp;E (Beginning)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$1,546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$2,465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$859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D&amp;A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($472)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($504)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($540)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PP&amp;E (Ending)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$2,465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$2,900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7680" y="609600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Shape 4"/>
          <p:cNvSpPr/>
          <p:nvPr/>
        </p:nvSpPr>
        <p:spPr>
          <a:xfrm>
            <a:off x="487680" y="6096000"/>
            <a:ext cx="73152" cy="609600"/>
          </a:xfrm>
          <a:prstGeom prst="rect">
            <a:avLst/>
          </a:prstGeom>
          <a:solidFill>
            <a:srgbClr val="E05A1F"/>
          </a:solidFill>
          <a:ln w="12700">
            <a:solidFill>
              <a:srgbClr val="E05A1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658368" y="61569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Debt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Lululemon carries zero traditional long-term debt</a:t>
            </a:r>
            <a:endParaRPr lang="en-US" sz="1333"/>
          </a:p>
        </p:txBody>
      </p:sp>
      <p:sp>
        <p:nvSpPr>
          <p:cNvPr id="9" name="Shape 6"/>
          <p:cNvSpPr/>
          <p:nvPr/>
        </p:nvSpPr>
        <p:spPr>
          <a:xfrm>
            <a:off x="4267200" y="609600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Shape 7"/>
          <p:cNvSpPr/>
          <p:nvPr/>
        </p:nvSpPr>
        <p:spPr>
          <a:xfrm>
            <a:off x="4267200" y="6096000"/>
            <a:ext cx="73152" cy="6096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8"/>
          <p:cNvSpPr/>
          <p:nvPr/>
        </p:nvSpPr>
        <p:spPr>
          <a:xfrm>
            <a:off x="4437888" y="61569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D&amp;A Rate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Lululemon's historical depreciation patterns</a:t>
            </a:r>
            <a:endParaRPr lang="en-US" sz="1333"/>
          </a:p>
        </p:txBody>
      </p:sp>
      <p:sp>
        <p:nvSpPr>
          <p:cNvPr id="12" name="Shape 9"/>
          <p:cNvSpPr/>
          <p:nvPr/>
        </p:nvSpPr>
        <p:spPr>
          <a:xfrm>
            <a:off x="8046720" y="609600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Shape 10"/>
          <p:cNvSpPr/>
          <p:nvPr/>
        </p:nvSpPr>
        <p:spPr>
          <a:xfrm>
            <a:off x="8046720" y="6096000"/>
            <a:ext cx="73152" cy="609600"/>
          </a:xfrm>
          <a:prstGeom prst="rect">
            <a:avLst/>
          </a:prstGeom>
          <a:solidFill>
            <a:srgbClr val="1F6E3A"/>
          </a:solidFill>
          <a:ln w="12700">
            <a:solidFill>
              <a:srgbClr val="1F6E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1"/>
          <p:cNvSpPr/>
          <p:nvPr/>
        </p:nvSpPr>
        <p:spPr>
          <a:xfrm>
            <a:off x="8217408" y="615696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method applied across all PP&amp;E uniformly</a:t>
            </a:r>
            <a:endParaRPr lang="en-US" sz="1333"/>
          </a:p>
        </p:txBody>
      </p:sp>
    </p:spTree>
    <p:extLst>
      <p:ext uri="{BB962C8B-B14F-4D97-AF65-F5344CB8AC3E}">
        <p14:creationId xmlns:p14="http://schemas.microsoft.com/office/powerpoint/2010/main" val="853546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341376"/>
            <a:ext cx="11216640" cy="670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5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Debt Schedule</a:t>
            </a:r>
            <a:endParaRPr lang="en-US" sz="4250">
              <a:latin typeface="Apto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03632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in millions  |  Lululemon carries zero traditional long-term debt — obligations are lease liabilities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487680" y="1487424"/>
            <a:ext cx="11216640" cy="304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487680" y="1682496"/>
            <a:ext cx="11216640" cy="633984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670560" y="1719072"/>
            <a:ext cx="10850880" cy="5608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Traditional Debt — Lululemon operates with a debt-free balance sheet. All financing obligations are operating and finance lease liabilities arising from retail store and distribution center leases.</a:t>
            </a:r>
            <a:endParaRPr lang="en-US" sz="1333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87680" y="2438400"/>
          <a:ext cx="10607040" cy="375513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2025A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Lease Liabilities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$316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$407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Non-Current Lease Liabilities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$1,893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$2,285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Lease Obligations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$1,576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$1,920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$2,250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$2,692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Obligations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+$344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+$330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+$442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Long-Term Debt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Expense (Debt)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7680" y="615696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Shape 7"/>
          <p:cNvSpPr/>
          <p:nvPr/>
        </p:nvSpPr>
        <p:spPr>
          <a:xfrm>
            <a:off x="487680" y="6156960"/>
            <a:ext cx="73152" cy="609600"/>
          </a:xfrm>
          <a:prstGeom prst="rect">
            <a:avLst/>
          </a:prstGeom>
          <a:solidFill>
            <a:srgbClr val="1F6E3A"/>
          </a:solidFill>
          <a:ln w="12700">
            <a:solidFill>
              <a:srgbClr val="1F6E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8"/>
          <p:cNvSpPr/>
          <p:nvPr/>
        </p:nvSpPr>
        <p:spPr>
          <a:xfrm>
            <a:off x="658368" y="621792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Debt-Free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principal repayments or interest charges on traditional debt</a:t>
            </a:r>
            <a:endParaRPr lang="en-US" sz="1333"/>
          </a:p>
        </p:txBody>
      </p:sp>
      <p:sp>
        <p:nvSpPr>
          <p:cNvPr id="12" name="Shape 9"/>
          <p:cNvSpPr/>
          <p:nvPr/>
        </p:nvSpPr>
        <p:spPr>
          <a:xfrm>
            <a:off x="4267200" y="615696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3" name="Shape 10"/>
          <p:cNvSpPr/>
          <p:nvPr/>
        </p:nvSpPr>
        <p:spPr>
          <a:xfrm>
            <a:off x="4267200" y="6156960"/>
            <a:ext cx="73152" cy="609600"/>
          </a:xfrm>
          <a:prstGeom prst="rect">
            <a:avLst/>
          </a:prstGeom>
          <a:solidFill>
            <a:srgbClr val="E05A1F"/>
          </a:solidFill>
          <a:ln w="12700">
            <a:solidFill>
              <a:srgbClr val="E05A1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1"/>
          <p:cNvSpPr/>
          <p:nvPr/>
        </p:nvSpPr>
        <p:spPr>
          <a:xfrm>
            <a:off x="4437888" y="621792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Growth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obligations grow as Lululemon expands its global store footprint</a:t>
            </a:r>
            <a:endParaRPr lang="en-US" sz="1333"/>
          </a:p>
        </p:txBody>
      </p:sp>
      <p:sp>
        <p:nvSpPr>
          <p:cNvPr id="15" name="Shape 12"/>
          <p:cNvSpPr/>
          <p:nvPr/>
        </p:nvSpPr>
        <p:spPr>
          <a:xfrm>
            <a:off x="8046720" y="6156960"/>
            <a:ext cx="3535680" cy="60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Shape 13"/>
          <p:cNvSpPr/>
          <p:nvPr/>
        </p:nvSpPr>
        <p:spPr>
          <a:xfrm>
            <a:off x="8046720" y="6156960"/>
            <a:ext cx="73152" cy="6096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Text 14"/>
          <p:cNvSpPr/>
          <p:nvPr/>
        </p:nvSpPr>
        <p:spPr>
          <a:xfrm>
            <a:off x="8217408" y="6217920"/>
            <a:ext cx="33162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Interest 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lease interest is embedded in ROU asset amortization</a:t>
            </a:r>
            <a:endParaRPr lang="en-US" sz="1333"/>
          </a:p>
        </p:txBody>
      </p:sp>
    </p:spTree>
    <p:extLst>
      <p:ext uri="{BB962C8B-B14F-4D97-AF65-F5344CB8AC3E}">
        <p14:creationId xmlns:p14="http://schemas.microsoft.com/office/powerpoint/2010/main" val="2995808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518135"/>
            <a:ext cx="3403729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2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Cash Flows</a:t>
            </a:r>
            <a:endParaRPr lang="en-US" sz="4267"/>
          </a:p>
        </p:txBody>
      </p:sp>
      <p:sp>
        <p:nvSpPr>
          <p:cNvPr id="3" name="Text 1"/>
          <p:cNvSpPr/>
          <p:nvPr/>
        </p:nvSpPr>
        <p:spPr>
          <a:xfrm>
            <a:off x="487680" y="2733940"/>
            <a:ext cx="3403729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in millions  |  2026E–2028E  |  Net change in cash ties to projected Balance Sheet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 flipV="1">
            <a:off x="487680" y="2395651"/>
            <a:ext cx="3403729" cy="5633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85875"/>
              </p:ext>
            </p:extLst>
          </p:nvPr>
        </p:nvGraphicFramePr>
        <p:xfrm>
          <a:off x="4359797" y="-1"/>
          <a:ext cx="7837556" cy="6865999"/>
        </p:xfrm>
        <a:graphic>
          <a:graphicData uri="http://schemas.openxmlformats.org/drawingml/2006/table">
            <a:tbl>
              <a:tblPr/>
              <a:tblGrid>
                <a:gridCol w="2640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9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Net Income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D&amp;A Add-Back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Accounts Receivable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($13)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($15)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Inventories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($144)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($159)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($174)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Accounts Payable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Accrued &amp; Other Liabilities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CFO Total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$2,048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$2,293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Capital Expenditures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($801)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($859)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($975)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Other Non-Current Assets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($43)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($46)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($52)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CFI Total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($844)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($905)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($1,027)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/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Stock Issuance (APIC)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Net New Lease Obligations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Δ Other Non-Current Liab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F6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Share Repurchases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($1,430)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($1,133)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($1,480)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2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CFF Total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($1,059)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($775)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($1,008)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80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  ✓ ties to BS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+$464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+$258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72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7264" y="140762"/>
            <a:ext cx="115824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Financial Ratios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182880" y="846236"/>
            <a:ext cx="1158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2025  |  $ in millions  |  Computed from Income Statement &amp; Balance Sheet</a:t>
            </a:r>
            <a:endParaRPr lang="en-US" sz="1533"/>
          </a:p>
        </p:txBody>
      </p:sp>
      <p:sp>
        <p:nvSpPr>
          <p:cNvPr id="5" name="Shape 3"/>
          <p:cNvSpPr/>
          <p:nvPr/>
        </p:nvSpPr>
        <p:spPr>
          <a:xfrm>
            <a:off x="268224" y="1304544"/>
            <a:ext cx="1165555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82880" y="1244692"/>
            <a:ext cx="8229600" cy="43891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243840" y="1244692"/>
            <a:ext cx="304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3352800" y="1244692"/>
            <a:ext cx="140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67"/>
          </a:p>
        </p:txBody>
      </p:sp>
      <p:sp>
        <p:nvSpPr>
          <p:cNvPr id="9" name="Text 7"/>
          <p:cNvSpPr/>
          <p:nvPr/>
        </p:nvSpPr>
        <p:spPr>
          <a:xfrm>
            <a:off x="4815840" y="124469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6035040" y="124469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7254240" y="124469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67"/>
          </a:p>
        </p:txBody>
      </p:sp>
      <p:sp>
        <p:nvSpPr>
          <p:cNvPr id="12" name="Shape 10"/>
          <p:cNvSpPr/>
          <p:nvPr/>
        </p:nvSpPr>
        <p:spPr>
          <a:xfrm>
            <a:off x="182880" y="1683604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82880" y="1683604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92608" y="168360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3340608" y="168360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4779264" y="16836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58.3%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998464" y="16836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59.4%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217664" y="16836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82880" y="2116420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182880" y="2116420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292608" y="211642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3340608" y="211642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23" name="Text 21"/>
          <p:cNvSpPr/>
          <p:nvPr/>
        </p:nvSpPr>
        <p:spPr>
          <a:xfrm>
            <a:off x="4779264" y="21164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998464" y="21164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7217664" y="21164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182880" y="2549236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182880" y="2549236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292608" y="2549236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 (ROA)</a:t>
            </a:r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3340608" y="2549236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4779264" y="25492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998464" y="25492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217664" y="25492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182880" y="2982052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182880" y="2982052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292608" y="2982052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(ROE)</a:t>
            </a:r>
            <a:endParaRPr lang="en-US" sz="1333"/>
          </a:p>
        </p:txBody>
      </p:sp>
      <p:sp>
        <p:nvSpPr>
          <p:cNvPr id="36" name="Text 34"/>
          <p:cNvSpPr/>
          <p:nvPr/>
        </p:nvSpPr>
        <p:spPr>
          <a:xfrm>
            <a:off x="3340608" y="2982052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37" name="Text 35"/>
          <p:cNvSpPr/>
          <p:nvPr/>
        </p:nvSpPr>
        <p:spPr>
          <a:xfrm>
            <a:off x="4779264" y="29820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998464" y="29820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42.5%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217664" y="29820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182880" y="3414868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182880" y="3414868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292608" y="3414868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</a:t>
            </a:r>
            <a:endParaRPr lang="en-US" sz="1333"/>
          </a:p>
        </p:txBody>
      </p:sp>
      <p:sp>
        <p:nvSpPr>
          <p:cNvPr id="43" name="Text 41"/>
          <p:cNvSpPr/>
          <p:nvPr/>
        </p:nvSpPr>
        <p:spPr>
          <a:xfrm>
            <a:off x="3340608" y="3414868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44" name="Text 42"/>
          <p:cNvSpPr/>
          <p:nvPr/>
        </p:nvSpPr>
        <p:spPr>
          <a:xfrm>
            <a:off x="4779264" y="34148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1.71x</a:t>
            </a:r>
            <a:endParaRPr lang="en-US" sz="1400"/>
          </a:p>
        </p:txBody>
      </p:sp>
      <p:sp>
        <p:nvSpPr>
          <p:cNvPr id="45" name="Text 43"/>
          <p:cNvSpPr/>
          <p:nvPr/>
        </p:nvSpPr>
        <p:spPr>
          <a:xfrm>
            <a:off x="5998464" y="34148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1.49x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7217664" y="34148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1.46x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182880" y="3847684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Shape 46"/>
          <p:cNvSpPr/>
          <p:nvPr/>
        </p:nvSpPr>
        <p:spPr>
          <a:xfrm>
            <a:off x="182880" y="3847684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292608" y="384768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 Out. (DIO)</a:t>
            </a:r>
            <a:endParaRPr lang="en-US" sz="1333"/>
          </a:p>
        </p:txBody>
      </p:sp>
      <p:sp>
        <p:nvSpPr>
          <p:cNvPr id="50" name="Text 48"/>
          <p:cNvSpPr/>
          <p:nvPr/>
        </p:nvSpPr>
        <p:spPr>
          <a:xfrm>
            <a:off x="3340608" y="384768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51" name="Text 49"/>
          <p:cNvSpPr/>
          <p:nvPr/>
        </p:nvSpPr>
        <p:spPr>
          <a:xfrm>
            <a:off x="4779264" y="38476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132.0</a:t>
            </a:r>
            <a:endParaRPr lang="en-US" sz="1400"/>
          </a:p>
        </p:txBody>
      </p:sp>
      <p:sp>
        <p:nvSpPr>
          <p:cNvPr id="52" name="Text 50"/>
          <p:cNvSpPr/>
          <p:nvPr/>
        </p:nvSpPr>
        <p:spPr>
          <a:xfrm>
            <a:off x="5998464" y="38476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112.4</a:t>
            </a:r>
            <a:endParaRPr lang="en-US" sz="1400"/>
          </a:p>
        </p:txBody>
      </p:sp>
      <p:sp>
        <p:nvSpPr>
          <p:cNvPr id="53" name="Text 51"/>
          <p:cNvSpPr/>
          <p:nvPr/>
        </p:nvSpPr>
        <p:spPr>
          <a:xfrm>
            <a:off x="7217664" y="38476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109.7</a:t>
            </a:r>
            <a:endParaRPr lang="en-US" sz="1400"/>
          </a:p>
        </p:txBody>
      </p:sp>
      <p:sp>
        <p:nvSpPr>
          <p:cNvPr id="54" name="Shape 52"/>
          <p:cNvSpPr/>
          <p:nvPr/>
        </p:nvSpPr>
        <p:spPr>
          <a:xfrm>
            <a:off x="182880" y="4280500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53"/>
          <p:cNvSpPr/>
          <p:nvPr/>
        </p:nvSpPr>
        <p:spPr>
          <a:xfrm>
            <a:off x="182880" y="4280500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4"/>
          <p:cNvSpPr/>
          <p:nvPr/>
        </p:nvSpPr>
        <p:spPr>
          <a:xfrm>
            <a:off x="292608" y="428050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Out. (DSO)</a:t>
            </a:r>
            <a:endParaRPr lang="en-US" sz="1333"/>
          </a:p>
        </p:txBody>
      </p:sp>
      <p:sp>
        <p:nvSpPr>
          <p:cNvPr id="57" name="Text 55"/>
          <p:cNvSpPr/>
          <p:nvPr/>
        </p:nvSpPr>
        <p:spPr>
          <a:xfrm>
            <a:off x="3340608" y="428050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58" name="Text 56"/>
          <p:cNvSpPr/>
          <p:nvPr/>
        </p:nvSpPr>
        <p:spPr>
          <a:xfrm>
            <a:off x="4779264" y="42805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400"/>
          </a:p>
        </p:txBody>
      </p:sp>
      <p:sp>
        <p:nvSpPr>
          <p:cNvPr id="59" name="Text 57"/>
          <p:cNvSpPr/>
          <p:nvPr/>
        </p:nvSpPr>
        <p:spPr>
          <a:xfrm>
            <a:off x="5998464" y="42805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400"/>
          </a:p>
        </p:txBody>
      </p:sp>
      <p:sp>
        <p:nvSpPr>
          <p:cNvPr id="60" name="Text 58"/>
          <p:cNvSpPr/>
          <p:nvPr/>
        </p:nvSpPr>
        <p:spPr>
          <a:xfrm>
            <a:off x="7217664" y="42805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182880" y="4713316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Shape 60"/>
          <p:cNvSpPr/>
          <p:nvPr/>
        </p:nvSpPr>
        <p:spPr>
          <a:xfrm>
            <a:off x="182880" y="4713316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/>
          <p:cNvSpPr/>
          <p:nvPr/>
        </p:nvSpPr>
        <p:spPr>
          <a:xfrm>
            <a:off x="292608" y="4713316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Payable Out. (DPO)</a:t>
            </a:r>
            <a:endParaRPr lang="en-US" sz="1333"/>
          </a:p>
        </p:txBody>
      </p:sp>
      <p:sp>
        <p:nvSpPr>
          <p:cNvPr id="64" name="Text 62"/>
          <p:cNvSpPr/>
          <p:nvPr/>
        </p:nvSpPr>
        <p:spPr>
          <a:xfrm>
            <a:off x="3340608" y="4713316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65" name="Text 63"/>
          <p:cNvSpPr/>
          <p:nvPr/>
        </p:nvSpPr>
        <p:spPr>
          <a:xfrm>
            <a:off x="4779264" y="471331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</a:t>
            </a:r>
            <a:endParaRPr lang="en-US" sz="1400"/>
          </a:p>
        </p:txBody>
      </p:sp>
      <p:sp>
        <p:nvSpPr>
          <p:cNvPr id="66" name="Text 64"/>
          <p:cNvSpPr/>
          <p:nvPr/>
        </p:nvSpPr>
        <p:spPr>
          <a:xfrm>
            <a:off x="5998464" y="471331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</a:t>
            </a:r>
            <a:endParaRPr lang="en-US" sz="1400"/>
          </a:p>
        </p:txBody>
      </p:sp>
      <p:sp>
        <p:nvSpPr>
          <p:cNvPr id="67" name="Text 65"/>
          <p:cNvSpPr/>
          <p:nvPr/>
        </p:nvSpPr>
        <p:spPr>
          <a:xfrm>
            <a:off x="7217664" y="471331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</a:t>
            </a:r>
            <a:endParaRPr lang="en-US" sz="1400"/>
          </a:p>
        </p:txBody>
      </p:sp>
      <p:sp>
        <p:nvSpPr>
          <p:cNvPr id="68" name="Shape 66"/>
          <p:cNvSpPr/>
          <p:nvPr/>
        </p:nvSpPr>
        <p:spPr>
          <a:xfrm>
            <a:off x="182880" y="5146132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Shape 67"/>
          <p:cNvSpPr/>
          <p:nvPr/>
        </p:nvSpPr>
        <p:spPr>
          <a:xfrm>
            <a:off x="182880" y="5146132"/>
            <a:ext cx="48768" cy="432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Text 68"/>
          <p:cNvSpPr/>
          <p:nvPr/>
        </p:nvSpPr>
        <p:spPr>
          <a:xfrm>
            <a:off x="292608" y="5146132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333"/>
          </a:p>
        </p:txBody>
      </p:sp>
      <p:sp>
        <p:nvSpPr>
          <p:cNvPr id="71" name="Text 69"/>
          <p:cNvSpPr/>
          <p:nvPr/>
        </p:nvSpPr>
        <p:spPr>
          <a:xfrm>
            <a:off x="3340608" y="5146132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33"/>
          </a:p>
        </p:txBody>
      </p:sp>
      <p:sp>
        <p:nvSpPr>
          <p:cNvPr id="72" name="Text 70"/>
          <p:cNvSpPr/>
          <p:nvPr/>
        </p:nvSpPr>
        <p:spPr>
          <a:xfrm>
            <a:off x="4779264" y="514613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2.12x</a:t>
            </a:r>
            <a:endParaRPr lang="en-US" sz="1400"/>
          </a:p>
        </p:txBody>
      </p:sp>
      <p:sp>
        <p:nvSpPr>
          <p:cNvPr id="73" name="Text 71"/>
          <p:cNvSpPr/>
          <p:nvPr/>
        </p:nvSpPr>
        <p:spPr>
          <a:xfrm>
            <a:off x="5998464" y="514613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2.49x</a:t>
            </a:r>
            <a:endParaRPr lang="en-US" sz="1400"/>
          </a:p>
        </p:txBody>
      </p:sp>
      <p:sp>
        <p:nvSpPr>
          <p:cNvPr id="74" name="Text 72"/>
          <p:cNvSpPr/>
          <p:nvPr/>
        </p:nvSpPr>
        <p:spPr>
          <a:xfrm>
            <a:off x="7217664" y="514613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2.16x</a:t>
            </a:r>
            <a:endParaRPr lang="en-US" sz="1400"/>
          </a:p>
        </p:txBody>
      </p:sp>
      <p:sp>
        <p:nvSpPr>
          <p:cNvPr id="75" name="Shape 73"/>
          <p:cNvSpPr/>
          <p:nvPr/>
        </p:nvSpPr>
        <p:spPr>
          <a:xfrm>
            <a:off x="182880" y="5578948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6" name="Shape 74"/>
          <p:cNvSpPr/>
          <p:nvPr/>
        </p:nvSpPr>
        <p:spPr>
          <a:xfrm>
            <a:off x="182880" y="5578948"/>
            <a:ext cx="48768" cy="432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Text 75"/>
          <p:cNvSpPr/>
          <p:nvPr/>
        </p:nvSpPr>
        <p:spPr>
          <a:xfrm>
            <a:off x="292608" y="5578948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</a:t>
            </a:r>
            <a:endParaRPr lang="en-US" sz="1333"/>
          </a:p>
        </p:txBody>
      </p:sp>
      <p:sp>
        <p:nvSpPr>
          <p:cNvPr id="78" name="Text 76"/>
          <p:cNvSpPr/>
          <p:nvPr/>
        </p:nvSpPr>
        <p:spPr>
          <a:xfrm>
            <a:off x="3340608" y="5578948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33"/>
          </a:p>
        </p:txBody>
      </p:sp>
      <p:sp>
        <p:nvSpPr>
          <p:cNvPr id="79" name="Text 77"/>
          <p:cNvSpPr/>
          <p:nvPr/>
        </p:nvSpPr>
        <p:spPr>
          <a:xfrm>
            <a:off x="4779264" y="557894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1.15x</a:t>
            </a:r>
            <a:endParaRPr lang="en-US" sz="1400"/>
          </a:p>
        </p:txBody>
      </p:sp>
      <p:sp>
        <p:nvSpPr>
          <p:cNvPr id="80" name="Text 78"/>
          <p:cNvSpPr/>
          <p:nvPr/>
        </p:nvSpPr>
        <p:spPr>
          <a:xfrm>
            <a:off x="5998464" y="557894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1.68x</a:t>
            </a:r>
            <a:endParaRPr lang="en-US" sz="1400"/>
          </a:p>
        </p:txBody>
      </p:sp>
      <p:sp>
        <p:nvSpPr>
          <p:cNvPr id="81" name="Text 79"/>
          <p:cNvSpPr/>
          <p:nvPr/>
        </p:nvSpPr>
        <p:spPr>
          <a:xfrm>
            <a:off x="7217664" y="557894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1.38x</a:t>
            </a:r>
            <a:endParaRPr lang="en-US" sz="1400"/>
          </a:p>
        </p:txBody>
      </p:sp>
      <p:sp>
        <p:nvSpPr>
          <p:cNvPr id="82" name="Shape 80"/>
          <p:cNvSpPr/>
          <p:nvPr/>
        </p:nvSpPr>
        <p:spPr>
          <a:xfrm>
            <a:off x="182880" y="6011764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3" name="Shape 81"/>
          <p:cNvSpPr/>
          <p:nvPr/>
        </p:nvSpPr>
        <p:spPr>
          <a:xfrm>
            <a:off x="182880" y="6011764"/>
            <a:ext cx="48768" cy="4328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Text 82"/>
          <p:cNvSpPr/>
          <p:nvPr/>
        </p:nvSpPr>
        <p:spPr>
          <a:xfrm>
            <a:off x="292608" y="601176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Leverage</a:t>
            </a:r>
            <a:endParaRPr lang="en-US" sz="1333"/>
          </a:p>
        </p:txBody>
      </p:sp>
      <p:sp>
        <p:nvSpPr>
          <p:cNvPr id="85" name="Text 83"/>
          <p:cNvSpPr/>
          <p:nvPr/>
        </p:nvSpPr>
        <p:spPr>
          <a:xfrm>
            <a:off x="3340608" y="601176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33"/>
          </a:p>
        </p:txBody>
      </p:sp>
      <p:sp>
        <p:nvSpPr>
          <p:cNvPr id="86" name="Text 84"/>
          <p:cNvSpPr/>
          <p:nvPr/>
        </p:nvSpPr>
        <p:spPr>
          <a:xfrm>
            <a:off x="4779264" y="601176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1.78x</a:t>
            </a:r>
            <a:endParaRPr lang="en-US" sz="1400"/>
          </a:p>
        </p:txBody>
      </p:sp>
      <p:sp>
        <p:nvSpPr>
          <p:cNvPr id="87" name="Text 85"/>
          <p:cNvSpPr/>
          <p:nvPr/>
        </p:nvSpPr>
        <p:spPr>
          <a:xfrm>
            <a:off x="5998464" y="601176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1.68x</a:t>
            </a:r>
            <a:endParaRPr lang="en-US" sz="1400"/>
          </a:p>
        </p:txBody>
      </p:sp>
      <p:sp>
        <p:nvSpPr>
          <p:cNvPr id="88" name="Text 86"/>
          <p:cNvSpPr/>
          <p:nvPr/>
        </p:nvSpPr>
        <p:spPr>
          <a:xfrm>
            <a:off x="7217664" y="601176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1.76x</a:t>
            </a:r>
            <a:endParaRPr lang="en-US" sz="1400"/>
          </a:p>
        </p:txBody>
      </p:sp>
      <p:sp>
        <p:nvSpPr>
          <p:cNvPr id="89" name="Shape 87"/>
          <p:cNvSpPr/>
          <p:nvPr/>
        </p:nvSpPr>
        <p:spPr>
          <a:xfrm>
            <a:off x="182880" y="6444580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0" name="Shape 88"/>
          <p:cNvSpPr/>
          <p:nvPr/>
        </p:nvSpPr>
        <p:spPr>
          <a:xfrm>
            <a:off x="182880" y="6444580"/>
            <a:ext cx="48768" cy="4328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Text 89"/>
          <p:cNvSpPr/>
          <p:nvPr/>
        </p:nvSpPr>
        <p:spPr>
          <a:xfrm>
            <a:off x="292608" y="644458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333"/>
          </a:p>
        </p:txBody>
      </p:sp>
      <p:sp>
        <p:nvSpPr>
          <p:cNvPr id="92" name="Text 90"/>
          <p:cNvSpPr/>
          <p:nvPr/>
        </p:nvSpPr>
        <p:spPr>
          <a:xfrm>
            <a:off x="3340608" y="644458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33"/>
          </a:p>
        </p:txBody>
      </p:sp>
      <p:sp>
        <p:nvSpPr>
          <p:cNvPr id="93" name="Text 91"/>
          <p:cNvSpPr/>
          <p:nvPr/>
        </p:nvSpPr>
        <p:spPr>
          <a:xfrm>
            <a:off x="4779264" y="644458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4" name="Text 92"/>
          <p:cNvSpPr/>
          <p:nvPr/>
        </p:nvSpPr>
        <p:spPr>
          <a:xfrm>
            <a:off x="5998464" y="644458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5" name="Text 93"/>
          <p:cNvSpPr/>
          <p:nvPr/>
        </p:nvSpPr>
        <p:spPr>
          <a:xfrm>
            <a:off x="7217664" y="644458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6" name="Shape 94"/>
          <p:cNvSpPr/>
          <p:nvPr/>
        </p:nvSpPr>
        <p:spPr>
          <a:xfrm>
            <a:off x="8717280" y="1402080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7" name="Shape 95"/>
          <p:cNvSpPr/>
          <p:nvPr/>
        </p:nvSpPr>
        <p:spPr>
          <a:xfrm>
            <a:off x="8717280" y="1402080"/>
            <a:ext cx="60960" cy="119481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Text 96"/>
          <p:cNvSpPr/>
          <p:nvPr/>
        </p:nvSpPr>
        <p:spPr>
          <a:xfrm>
            <a:off x="8875776" y="1475232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</a:t>
            </a:r>
            <a:endParaRPr lang="en-US" sz="1200"/>
          </a:p>
        </p:txBody>
      </p:sp>
      <p:sp>
        <p:nvSpPr>
          <p:cNvPr id="99" name="Text 97"/>
          <p:cNvSpPr/>
          <p:nvPr/>
        </p:nvSpPr>
        <p:spPr>
          <a:xfrm>
            <a:off x="8875776" y="1731264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</a:t>
            </a:r>
            <a:endParaRPr lang="en-US" sz="2667"/>
          </a:p>
        </p:txBody>
      </p:sp>
      <p:sp>
        <p:nvSpPr>
          <p:cNvPr id="100" name="Text 98"/>
          <p:cNvSpPr/>
          <p:nvPr/>
        </p:nvSpPr>
        <p:spPr>
          <a:xfrm>
            <a:off x="8875776" y="2292096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average</a:t>
            </a:r>
            <a:endParaRPr lang="en-US" sz="1000"/>
          </a:p>
        </p:txBody>
      </p:sp>
      <p:sp>
        <p:nvSpPr>
          <p:cNvPr id="101" name="Shape 99"/>
          <p:cNvSpPr/>
          <p:nvPr/>
        </p:nvSpPr>
        <p:spPr>
          <a:xfrm>
            <a:off x="8717280" y="2767584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2" name="Shape 100"/>
          <p:cNvSpPr/>
          <p:nvPr/>
        </p:nvSpPr>
        <p:spPr>
          <a:xfrm>
            <a:off x="8717280" y="2767584"/>
            <a:ext cx="60960" cy="1194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3" name="Text 101"/>
          <p:cNvSpPr/>
          <p:nvPr/>
        </p:nvSpPr>
        <p:spPr>
          <a:xfrm>
            <a:off x="8875776" y="2840736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ROE</a:t>
            </a:r>
            <a:endParaRPr lang="en-US" sz="1200"/>
          </a:p>
        </p:txBody>
      </p:sp>
      <p:sp>
        <p:nvSpPr>
          <p:cNvPr id="104" name="Text 102"/>
          <p:cNvSpPr/>
          <p:nvPr/>
        </p:nvSpPr>
        <p:spPr>
          <a:xfrm>
            <a:off x="8875776" y="3096768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2667"/>
          </a:p>
        </p:txBody>
      </p:sp>
      <p:sp>
        <p:nvSpPr>
          <p:cNvPr id="105" name="Text 103"/>
          <p:cNvSpPr/>
          <p:nvPr/>
        </p:nvSpPr>
        <p:spPr>
          <a:xfrm>
            <a:off x="8875776" y="3657600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equity expanding</a:t>
            </a:r>
            <a:endParaRPr lang="en-US" sz="1000"/>
          </a:p>
        </p:txBody>
      </p:sp>
      <p:sp>
        <p:nvSpPr>
          <p:cNvPr id="106" name="Shape 104"/>
          <p:cNvSpPr/>
          <p:nvPr/>
        </p:nvSpPr>
        <p:spPr>
          <a:xfrm>
            <a:off x="8717280" y="4133088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7" name="Shape 105"/>
          <p:cNvSpPr/>
          <p:nvPr/>
        </p:nvSpPr>
        <p:spPr>
          <a:xfrm>
            <a:off x="8717280" y="4133088"/>
            <a:ext cx="60960" cy="1194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8" name="Text 106"/>
          <p:cNvSpPr/>
          <p:nvPr/>
        </p:nvSpPr>
        <p:spPr>
          <a:xfrm>
            <a:off x="8875776" y="4206240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1200"/>
          </a:p>
        </p:txBody>
      </p:sp>
      <p:sp>
        <p:nvSpPr>
          <p:cNvPr id="109" name="Text 107"/>
          <p:cNvSpPr/>
          <p:nvPr/>
        </p:nvSpPr>
        <p:spPr>
          <a:xfrm>
            <a:off x="8875776" y="4462272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days</a:t>
            </a:r>
            <a:endParaRPr lang="en-US" sz="2667"/>
          </a:p>
        </p:txBody>
      </p:sp>
      <p:sp>
        <p:nvSpPr>
          <p:cNvPr id="110" name="Text 108"/>
          <p:cNvSpPr/>
          <p:nvPr/>
        </p:nvSpPr>
        <p:spPr>
          <a:xfrm>
            <a:off x="8875776" y="5023104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</a:t>
            </a:r>
            <a:endParaRPr lang="en-US" sz="1000"/>
          </a:p>
        </p:txBody>
      </p:sp>
      <p:sp>
        <p:nvSpPr>
          <p:cNvPr id="111" name="Shape 109"/>
          <p:cNvSpPr/>
          <p:nvPr/>
        </p:nvSpPr>
        <p:spPr>
          <a:xfrm>
            <a:off x="8717280" y="5498592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2" name="Shape 110"/>
          <p:cNvSpPr/>
          <p:nvPr/>
        </p:nvSpPr>
        <p:spPr>
          <a:xfrm>
            <a:off x="8717280" y="5498592"/>
            <a:ext cx="60960" cy="1194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3" name="Text 111"/>
          <p:cNvSpPr/>
          <p:nvPr/>
        </p:nvSpPr>
        <p:spPr>
          <a:xfrm>
            <a:off x="8875776" y="5571744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200"/>
          </a:p>
        </p:txBody>
      </p:sp>
      <p:sp>
        <p:nvSpPr>
          <p:cNvPr id="114" name="Text 112"/>
          <p:cNvSpPr/>
          <p:nvPr/>
        </p:nvSpPr>
        <p:spPr>
          <a:xfrm>
            <a:off x="8875776" y="5827776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2.0x</a:t>
            </a:r>
            <a:endParaRPr lang="en-US" sz="2667"/>
          </a:p>
        </p:txBody>
      </p:sp>
      <p:sp>
        <p:nvSpPr>
          <p:cNvPr id="115" name="Text 113"/>
          <p:cNvSpPr/>
          <p:nvPr/>
        </p:nvSpPr>
        <p:spPr>
          <a:xfrm>
            <a:off x="8875776" y="6388608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years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8496" y="98090"/>
            <a:ext cx="115824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Financial Ratios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182880" y="830164"/>
            <a:ext cx="1158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 – 2028E  |  $ in millions  |  Derived from Projected Income Statement &amp; Balance Sheet</a:t>
            </a:r>
            <a:endParaRPr lang="en-US" sz="1533"/>
          </a:p>
        </p:txBody>
      </p:sp>
      <p:sp>
        <p:nvSpPr>
          <p:cNvPr id="5" name="Shape 3"/>
          <p:cNvSpPr/>
          <p:nvPr/>
        </p:nvSpPr>
        <p:spPr>
          <a:xfrm>
            <a:off x="268224" y="1304544"/>
            <a:ext cx="1165555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82880" y="1214212"/>
            <a:ext cx="8229600" cy="43891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243840" y="1214212"/>
            <a:ext cx="304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3352800" y="1214212"/>
            <a:ext cx="140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67"/>
          </a:p>
        </p:txBody>
      </p:sp>
      <p:sp>
        <p:nvSpPr>
          <p:cNvPr id="9" name="Text 7"/>
          <p:cNvSpPr/>
          <p:nvPr/>
        </p:nvSpPr>
        <p:spPr>
          <a:xfrm>
            <a:off x="4815840" y="121421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6035040" y="121421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7254240" y="1214212"/>
            <a:ext cx="115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</a:t>
            </a:r>
            <a:endParaRPr lang="en-US" sz="1467"/>
          </a:p>
        </p:txBody>
      </p:sp>
      <p:sp>
        <p:nvSpPr>
          <p:cNvPr id="12" name="Shape 10"/>
          <p:cNvSpPr/>
          <p:nvPr/>
        </p:nvSpPr>
        <p:spPr>
          <a:xfrm>
            <a:off x="182880" y="1653124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82880" y="1653124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92608" y="165312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3340608" y="165312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4779264" y="165312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998464" y="165312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217664" y="165312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82880" y="2085940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182880" y="2085940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292608" y="208594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3340608" y="208594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23" name="Text 21"/>
          <p:cNvSpPr/>
          <p:nvPr/>
        </p:nvSpPr>
        <p:spPr>
          <a:xfrm>
            <a:off x="4779264" y="208594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998464" y="208594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7217664" y="208594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182880" y="2518756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182880" y="2518756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292608" y="2518756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 (ROA)</a:t>
            </a:r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3340608" y="2518756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4779264" y="251875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998464" y="251875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217664" y="251875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182880" y="2951572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182880" y="2951572"/>
            <a:ext cx="48768" cy="432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292608" y="2951572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(ROE)</a:t>
            </a:r>
            <a:endParaRPr lang="en-US" sz="1333"/>
          </a:p>
        </p:txBody>
      </p:sp>
      <p:sp>
        <p:nvSpPr>
          <p:cNvPr id="36" name="Text 34"/>
          <p:cNvSpPr/>
          <p:nvPr/>
        </p:nvSpPr>
        <p:spPr>
          <a:xfrm>
            <a:off x="3340608" y="2951572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33"/>
          </a:p>
        </p:txBody>
      </p:sp>
      <p:sp>
        <p:nvSpPr>
          <p:cNvPr id="37" name="Text 35"/>
          <p:cNvSpPr/>
          <p:nvPr/>
        </p:nvSpPr>
        <p:spPr>
          <a:xfrm>
            <a:off x="4779264" y="295157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998464" y="295157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7217664" y="295157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182880" y="3384388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182880" y="3384388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292608" y="3384388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</a:t>
            </a:r>
            <a:endParaRPr lang="en-US" sz="1333"/>
          </a:p>
        </p:txBody>
      </p:sp>
      <p:sp>
        <p:nvSpPr>
          <p:cNvPr id="43" name="Text 41"/>
          <p:cNvSpPr/>
          <p:nvPr/>
        </p:nvSpPr>
        <p:spPr>
          <a:xfrm>
            <a:off x="3340608" y="3384388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44" name="Text 42"/>
          <p:cNvSpPr/>
          <p:nvPr/>
        </p:nvSpPr>
        <p:spPr>
          <a:xfrm>
            <a:off x="4779264" y="338438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1.37x</a:t>
            </a:r>
            <a:endParaRPr lang="en-US" sz="1400"/>
          </a:p>
        </p:txBody>
      </p:sp>
      <p:sp>
        <p:nvSpPr>
          <p:cNvPr id="45" name="Text 43"/>
          <p:cNvSpPr/>
          <p:nvPr/>
        </p:nvSpPr>
        <p:spPr>
          <a:xfrm>
            <a:off x="5998464" y="338438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1.27x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7217664" y="338438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1.20x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182880" y="3817204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Shape 46"/>
          <p:cNvSpPr/>
          <p:nvPr/>
        </p:nvSpPr>
        <p:spPr>
          <a:xfrm>
            <a:off x="182880" y="3817204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292608" y="381720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 Out. (DIO)</a:t>
            </a:r>
            <a:endParaRPr lang="en-US" sz="1333"/>
          </a:p>
        </p:txBody>
      </p:sp>
      <p:sp>
        <p:nvSpPr>
          <p:cNvPr id="50" name="Text 48"/>
          <p:cNvSpPr/>
          <p:nvPr/>
        </p:nvSpPr>
        <p:spPr>
          <a:xfrm>
            <a:off x="3340608" y="381720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51" name="Text 49"/>
          <p:cNvSpPr/>
          <p:nvPr/>
        </p:nvSpPr>
        <p:spPr>
          <a:xfrm>
            <a:off x="4779264" y="38172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109.2</a:t>
            </a:r>
            <a:endParaRPr lang="en-US" sz="1400"/>
          </a:p>
        </p:txBody>
      </p:sp>
      <p:sp>
        <p:nvSpPr>
          <p:cNvPr id="52" name="Text 50"/>
          <p:cNvSpPr/>
          <p:nvPr/>
        </p:nvSpPr>
        <p:spPr>
          <a:xfrm>
            <a:off x="5998464" y="38172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113.7</a:t>
            </a:r>
            <a:endParaRPr lang="en-US" sz="1400"/>
          </a:p>
        </p:txBody>
      </p:sp>
      <p:sp>
        <p:nvSpPr>
          <p:cNvPr id="53" name="Text 51"/>
          <p:cNvSpPr/>
          <p:nvPr/>
        </p:nvSpPr>
        <p:spPr>
          <a:xfrm>
            <a:off x="7217664" y="381720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116.7</a:t>
            </a:r>
            <a:endParaRPr lang="en-US" sz="1400"/>
          </a:p>
        </p:txBody>
      </p:sp>
      <p:sp>
        <p:nvSpPr>
          <p:cNvPr id="54" name="Shape 52"/>
          <p:cNvSpPr/>
          <p:nvPr/>
        </p:nvSpPr>
        <p:spPr>
          <a:xfrm>
            <a:off x="182880" y="4250020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53"/>
          <p:cNvSpPr/>
          <p:nvPr/>
        </p:nvSpPr>
        <p:spPr>
          <a:xfrm>
            <a:off x="182880" y="4250020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4"/>
          <p:cNvSpPr/>
          <p:nvPr/>
        </p:nvSpPr>
        <p:spPr>
          <a:xfrm>
            <a:off x="292608" y="425002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Out. (DSO)</a:t>
            </a:r>
            <a:endParaRPr lang="en-US" sz="1333"/>
          </a:p>
        </p:txBody>
      </p:sp>
      <p:sp>
        <p:nvSpPr>
          <p:cNvPr id="57" name="Text 55"/>
          <p:cNvSpPr/>
          <p:nvPr/>
        </p:nvSpPr>
        <p:spPr>
          <a:xfrm>
            <a:off x="3340608" y="425002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58" name="Text 56"/>
          <p:cNvSpPr/>
          <p:nvPr/>
        </p:nvSpPr>
        <p:spPr>
          <a:xfrm>
            <a:off x="4779264" y="42500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400"/>
          </a:p>
        </p:txBody>
      </p:sp>
      <p:sp>
        <p:nvSpPr>
          <p:cNvPr id="59" name="Text 57"/>
          <p:cNvSpPr/>
          <p:nvPr/>
        </p:nvSpPr>
        <p:spPr>
          <a:xfrm>
            <a:off x="5998464" y="42500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/>
          </a:p>
        </p:txBody>
      </p:sp>
      <p:sp>
        <p:nvSpPr>
          <p:cNvPr id="60" name="Text 58"/>
          <p:cNvSpPr/>
          <p:nvPr/>
        </p:nvSpPr>
        <p:spPr>
          <a:xfrm>
            <a:off x="7217664" y="425002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182880" y="4682836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Shape 60"/>
          <p:cNvSpPr/>
          <p:nvPr/>
        </p:nvSpPr>
        <p:spPr>
          <a:xfrm>
            <a:off x="182880" y="4682836"/>
            <a:ext cx="48768" cy="4328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/>
          <p:cNvSpPr/>
          <p:nvPr/>
        </p:nvSpPr>
        <p:spPr>
          <a:xfrm>
            <a:off x="292608" y="4682836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Payable Out. (DPO)</a:t>
            </a:r>
            <a:endParaRPr lang="en-US" sz="1333"/>
          </a:p>
        </p:txBody>
      </p:sp>
      <p:sp>
        <p:nvSpPr>
          <p:cNvPr id="64" name="Text 62"/>
          <p:cNvSpPr/>
          <p:nvPr/>
        </p:nvSpPr>
        <p:spPr>
          <a:xfrm>
            <a:off x="3340608" y="4682836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33"/>
          </a:p>
        </p:txBody>
      </p:sp>
      <p:sp>
        <p:nvSpPr>
          <p:cNvPr id="65" name="Text 63"/>
          <p:cNvSpPr/>
          <p:nvPr/>
        </p:nvSpPr>
        <p:spPr>
          <a:xfrm>
            <a:off x="4779264" y="46828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1400"/>
          </a:p>
        </p:txBody>
      </p:sp>
      <p:sp>
        <p:nvSpPr>
          <p:cNvPr id="66" name="Text 64"/>
          <p:cNvSpPr/>
          <p:nvPr/>
        </p:nvSpPr>
        <p:spPr>
          <a:xfrm>
            <a:off x="5998464" y="46828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</a:t>
            </a:r>
            <a:endParaRPr lang="en-US" sz="1400"/>
          </a:p>
        </p:txBody>
      </p:sp>
      <p:sp>
        <p:nvSpPr>
          <p:cNvPr id="67" name="Text 65"/>
          <p:cNvSpPr/>
          <p:nvPr/>
        </p:nvSpPr>
        <p:spPr>
          <a:xfrm>
            <a:off x="7217664" y="4682836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1400"/>
          </a:p>
        </p:txBody>
      </p:sp>
      <p:sp>
        <p:nvSpPr>
          <p:cNvPr id="68" name="Shape 66"/>
          <p:cNvSpPr/>
          <p:nvPr/>
        </p:nvSpPr>
        <p:spPr>
          <a:xfrm>
            <a:off x="182880" y="5115652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Shape 67"/>
          <p:cNvSpPr/>
          <p:nvPr/>
        </p:nvSpPr>
        <p:spPr>
          <a:xfrm>
            <a:off x="182880" y="5115652"/>
            <a:ext cx="48768" cy="432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Text 68"/>
          <p:cNvSpPr/>
          <p:nvPr/>
        </p:nvSpPr>
        <p:spPr>
          <a:xfrm>
            <a:off x="292608" y="5115652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333"/>
          </a:p>
        </p:txBody>
      </p:sp>
      <p:sp>
        <p:nvSpPr>
          <p:cNvPr id="71" name="Text 69"/>
          <p:cNvSpPr/>
          <p:nvPr/>
        </p:nvSpPr>
        <p:spPr>
          <a:xfrm>
            <a:off x="3340608" y="5115652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33"/>
          </a:p>
        </p:txBody>
      </p:sp>
      <p:sp>
        <p:nvSpPr>
          <p:cNvPr id="72" name="Text 70"/>
          <p:cNvSpPr/>
          <p:nvPr/>
        </p:nvSpPr>
        <p:spPr>
          <a:xfrm>
            <a:off x="4779264" y="51156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2.35x</a:t>
            </a:r>
            <a:endParaRPr lang="en-US" sz="1400"/>
          </a:p>
        </p:txBody>
      </p:sp>
      <p:sp>
        <p:nvSpPr>
          <p:cNvPr id="73" name="Text 71"/>
          <p:cNvSpPr/>
          <p:nvPr/>
        </p:nvSpPr>
        <p:spPr>
          <a:xfrm>
            <a:off x="5998464" y="51156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2.46x</a:t>
            </a:r>
            <a:endParaRPr lang="en-US" sz="1400"/>
          </a:p>
        </p:txBody>
      </p:sp>
      <p:sp>
        <p:nvSpPr>
          <p:cNvPr id="74" name="Text 72"/>
          <p:cNvSpPr/>
          <p:nvPr/>
        </p:nvSpPr>
        <p:spPr>
          <a:xfrm>
            <a:off x="7217664" y="5115652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2.43x</a:t>
            </a:r>
            <a:endParaRPr lang="en-US" sz="1400"/>
          </a:p>
        </p:txBody>
      </p:sp>
      <p:sp>
        <p:nvSpPr>
          <p:cNvPr id="75" name="Shape 73"/>
          <p:cNvSpPr/>
          <p:nvPr/>
        </p:nvSpPr>
        <p:spPr>
          <a:xfrm>
            <a:off x="182880" y="5548468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6" name="Shape 74"/>
          <p:cNvSpPr/>
          <p:nvPr/>
        </p:nvSpPr>
        <p:spPr>
          <a:xfrm>
            <a:off x="182880" y="5548468"/>
            <a:ext cx="48768" cy="432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Text 75"/>
          <p:cNvSpPr/>
          <p:nvPr/>
        </p:nvSpPr>
        <p:spPr>
          <a:xfrm>
            <a:off x="292608" y="5548468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</a:t>
            </a:r>
            <a:endParaRPr lang="en-US" sz="1333"/>
          </a:p>
        </p:txBody>
      </p:sp>
      <p:sp>
        <p:nvSpPr>
          <p:cNvPr id="78" name="Text 76"/>
          <p:cNvSpPr/>
          <p:nvPr/>
        </p:nvSpPr>
        <p:spPr>
          <a:xfrm>
            <a:off x="3340608" y="5548468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133"/>
          </a:p>
        </p:txBody>
      </p:sp>
      <p:sp>
        <p:nvSpPr>
          <p:cNvPr id="79" name="Text 77"/>
          <p:cNvSpPr/>
          <p:nvPr/>
        </p:nvSpPr>
        <p:spPr>
          <a:xfrm>
            <a:off x="4779264" y="55484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1.48x</a:t>
            </a:r>
            <a:endParaRPr lang="en-US" sz="1400"/>
          </a:p>
        </p:txBody>
      </p:sp>
      <p:sp>
        <p:nvSpPr>
          <p:cNvPr id="80" name="Text 78"/>
          <p:cNvSpPr/>
          <p:nvPr/>
        </p:nvSpPr>
        <p:spPr>
          <a:xfrm>
            <a:off x="5998464" y="55484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1.60x</a:t>
            </a:r>
            <a:endParaRPr lang="en-US" sz="1400"/>
          </a:p>
        </p:txBody>
      </p:sp>
      <p:sp>
        <p:nvSpPr>
          <p:cNvPr id="81" name="Text 79"/>
          <p:cNvSpPr/>
          <p:nvPr/>
        </p:nvSpPr>
        <p:spPr>
          <a:xfrm>
            <a:off x="7217664" y="5548468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1.57x</a:t>
            </a:r>
            <a:endParaRPr lang="en-US" sz="1400"/>
          </a:p>
        </p:txBody>
      </p:sp>
      <p:sp>
        <p:nvSpPr>
          <p:cNvPr id="82" name="Shape 80"/>
          <p:cNvSpPr/>
          <p:nvPr/>
        </p:nvSpPr>
        <p:spPr>
          <a:xfrm>
            <a:off x="182880" y="5981284"/>
            <a:ext cx="8229600" cy="43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3" name="Shape 81"/>
          <p:cNvSpPr/>
          <p:nvPr/>
        </p:nvSpPr>
        <p:spPr>
          <a:xfrm>
            <a:off x="182880" y="5981284"/>
            <a:ext cx="48768" cy="4328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Text 82"/>
          <p:cNvSpPr/>
          <p:nvPr/>
        </p:nvSpPr>
        <p:spPr>
          <a:xfrm>
            <a:off x="292608" y="5981284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Leverage</a:t>
            </a:r>
            <a:endParaRPr lang="en-US" sz="1333"/>
          </a:p>
        </p:txBody>
      </p:sp>
      <p:sp>
        <p:nvSpPr>
          <p:cNvPr id="85" name="Text 83"/>
          <p:cNvSpPr/>
          <p:nvPr/>
        </p:nvSpPr>
        <p:spPr>
          <a:xfrm>
            <a:off x="3340608" y="5981284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33"/>
          </a:p>
        </p:txBody>
      </p:sp>
      <p:sp>
        <p:nvSpPr>
          <p:cNvPr id="86" name="Text 84"/>
          <p:cNvSpPr/>
          <p:nvPr/>
        </p:nvSpPr>
        <p:spPr>
          <a:xfrm>
            <a:off x="4779264" y="59812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1.71x</a:t>
            </a:r>
            <a:endParaRPr lang="en-US" sz="1400"/>
          </a:p>
        </p:txBody>
      </p:sp>
      <p:sp>
        <p:nvSpPr>
          <p:cNvPr id="87" name="Text 85"/>
          <p:cNvSpPr/>
          <p:nvPr/>
        </p:nvSpPr>
        <p:spPr>
          <a:xfrm>
            <a:off x="5998464" y="59812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1.70x</a:t>
            </a:r>
            <a:endParaRPr lang="en-US" sz="1400"/>
          </a:p>
        </p:txBody>
      </p:sp>
      <p:sp>
        <p:nvSpPr>
          <p:cNvPr id="88" name="Text 86"/>
          <p:cNvSpPr/>
          <p:nvPr/>
        </p:nvSpPr>
        <p:spPr>
          <a:xfrm>
            <a:off x="7217664" y="5981284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1.72x</a:t>
            </a:r>
            <a:endParaRPr lang="en-US" sz="1400"/>
          </a:p>
        </p:txBody>
      </p:sp>
      <p:sp>
        <p:nvSpPr>
          <p:cNvPr id="89" name="Shape 87"/>
          <p:cNvSpPr/>
          <p:nvPr/>
        </p:nvSpPr>
        <p:spPr>
          <a:xfrm>
            <a:off x="182880" y="6414100"/>
            <a:ext cx="8229600" cy="43281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0" name="Shape 88"/>
          <p:cNvSpPr/>
          <p:nvPr/>
        </p:nvSpPr>
        <p:spPr>
          <a:xfrm>
            <a:off x="182880" y="6414100"/>
            <a:ext cx="48768" cy="4328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Text 89"/>
          <p:cNvSpPr/>
          <p:nvPr/>
        </p:nvSpPr>
        <p:spPr>
          <a:xfrm>
            <a:off x="292608" y="6414100"/>
            <a:ext cx="2987040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333"/>
          </a:p>
        </p:txBody>
      </p:sp>
      <p:sp>
        <p:nvSpPr>
          <p:cNvPr id="92" name="Text 90"/>
          <p:cNvSpPr/>
          <p:nvPr/>
        </p:nvSpPr>
        <p:spPr>
          <a:xfrm>
            <a:off x="3340608" y="6414100"/>
            <a:ext cx="1389888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33"/>
          </a:p>
        </p:txBody>
      </p:sp>
      <p:sp>
        <p:nvSpPr>
          <p:cNvPr id="93" name="Text 91"/>
          <p:cNvSpPr/>
          <p:nvPr/>
        </p:nvSpPr>
        <p:spPr>
          <a:xfrm>
            <a:off x="4779264" y="64141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4" name="Text 92"/>
          <p:cNvSpPr/>
          <p:nvPr/>
        </p:nvSpPr>
        <p:spPr>
          <a:xfrm>
            <a:off x="5998464" y="64141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5" name="Text 93"/>
          <p:cNvSpPr/>
          <p:nvPr/>
        </p:nvSpPr>
        <p:spPr>
          <a:xfrm>
            <a:off x="7217664" y="6414100"/>
            <a:ext cx="1170432" cy="432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400"/>
          </a:p>
        </p:txBody>
      </p:sp>
      <p:sp>
        <p:nvSpPr>
          <p:cNvPr id="96" name="Shape 94"/>
          <p:cNvSpPr/>
          <p:nvPr/>
        </p:nvSpPr>
        <p:spPr>
          <a:xfrm>
            <a:off x="8717280" y="1402080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7" name="Shape 95"/>
          <p:cNvSpPr/>
          <p:nvPr/>
        </p:nvSpPr>
        <p:spPr>
          <a:xfrm>
            <a:off x="8717280" y="1402080"/>
            <a:ext cx="60960" cy="119481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Text 96"/>
          <p:cNvSpPr/>
          <p:nvPr/>
        </p:nvSpPr>
        <p:spPr>
          <a:xfrm>
            <a:off x="8875776" y="1475232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</a:t>
            </a:r>
            <a:endParaRPr lang="en-US" sz="1200"/>
          </a:p>
        </p:txBody>
      </p:sp>
      <p:sp>
        <p:nvSpPr>
          <p:cNvPr id="99" name="Text 97"/>
          <p:cNvSpPr/>
          <p:nvPr/>
        </p:nvSpPr>
        <p:spPr>
          <a:xfrm>
            <a:off x="8875776" y="1731264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~55.5%</a:t>
            </a:r>
            <a:endParaRPr lang="en-US" sz="2667"/>
          </a:p>
        </p:txBody>
      </p:sp>
      <p:sp>
        <p:nvSpPr>
          <p:cNvPr id="100" name="Text 98"/>
          <p:cNvSpPr/>
          <p:nvPr/>
        </p:nvSpPr>
        <p:spPr>
          <a:xfrm>
            <a:off x="8875776" y="2292096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projected avg</a:t>
            </a:r>
            <a:endParaRPr lang="en-US" sz="1000"/>
          </a:p>
        </p:txBody>
      </p:sp>
      <p:sp>
        <p:nvSpPr>
          <p:cNvPr id="101" name="Shape 99"/>
          <p:cNvSpPr/>
          <p:nvPr/>
        </p:nvSpPr>
        <p:spPr>
          <a:xfrm>
            <a:off x="8717280" y="2767584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2" name="Shape 100"/>
          <p:cNvSpPr/>
          <p:nvPr/>
        </p:nvSpPr>
        <p:spPr>
          <a:xfrm>
            <a:off x="8717280" y="2767584"/>
            <a:ext cx="60960" cy="1194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3" name="Text 101"/>
          <p:cNvSpPr/>
          <p:nvPr/>
        </p:nvSpPr>
        <p:spPr>
          <a:xfrm>
            <a:off x="8875776" y="2840736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Range</a:t>
            </a:r>
            <a:endParaRPr lang="en-US" sz="1200"/>
          </a:p>
        </p:txBody>
      </p:sp>
      <p:sp>
        <p:nvSpPr>
          <p:cNvPr id="104" name="Text 102"/>
          <p:cNvSpPr/>
          <p:nvPr/>
        </p:nvSpPr>
        <p:spPr>
          <a:xfrm>
            <a:off x="8875776" y="3096768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27–32%</a:t>
            </a:r>
            <a:endParaRPr lang="en-US" sz="2667"/>
          </a:p>
        </p:txBody>
      </p:sp>
      <p:sp>
        <p:nvSpPr>
          <p:cNvPr id="105" name="Text 103"/>
          <p:cNvSpPr/>
          <p:nvPr/>
        </p:nvSpPr>
        <p:spPr>
          <a:xfrm>
            <a:off x="8875776" y="3657600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compression</a:t>
            </a:r>
            <a:endParaRPr lang="en-US" sz="1000"/>
          </a:p>
        </p:txBody>
      </p:sp>
      <p:sp>
        <p:nvSpPr>
          <p:cNvPr id="106" name="Shape 104"/>
          <p:cNvSpPr/>
          <p:nvPr/>
        </p:nvSpPr>
        <p:spPr>
          <a:xfrm>
            <a:off x="8717280" y="4133088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7" name="Shape 105"/>
          <p:cNvSpPr/>
          <p:nvPr/>
        </p:nvSpPr>
        <p:spPr>
          <a:xfrm>
            <a:off x="8717280" y="4133088"/>
            <a:ext cx="60960" cy="11948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8" name="Text 106"/>
          <p:cNvSpPr/>
          <p:nvPr/>
        </p:nvSpPr>
        <p:spPr>
          <a:xfrm>
            <a:off x="8875776" y="4206240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200"/>
          </a:p>
        </p:txBody>
      </p:sp>
      <p:sp>
        <p:nvSpPr>
          <p:cNvPr id="109" name="Text 107"/>
          <p:cNvSpPr/>
          <p:nvPr/>
        </p:nvSpPr>
        <p:spPr>
          <a:xfrm>
            <a:off x="8875776" y="4462272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2.3x</a:t>
            </a:r>
            <a:endParaRPr lang="en-US" sz="2667"/>
          </a:p>
        </p:txBody>
      </p:sp>
      <p:sp>
        <p:nvSpPr>
          <p:cNvPr id="110" name="Text 108"/>
          <p:cNvSpPr/>
          <p:nvPr/>
        </p:nvSpPr>
        <p:spPr>
          <a:xfrm>
            <a:off x="8875776" y="5023104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strong liquidity</a:t>
            </a:r>
            <a:endParaRPr lang="en-US" sz="1000"/>
          </a:p>
        </p:txBody>
      </p:sp>
      <p:sp>
        <p:nvSpPr>
          <p:cNvPr id="111" name="Shape 109"/>
          <p:cNvSpPr/>
          <p:nvPr/>
        </p:nvSpPr>
        <p:spPr>
          <a:xfrm>
            <a:off x="8717280" y="5498592"/>
            <a:ext cx="3230880" cy="11948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2" name="Shape 110"/>
          <p:cNvSpPr/>
          <p:nvPr/>
        </p:nvSpPr>
        <p:spPr>
          <a:xfrm>
            <a:off x="8717280" y="5498592"/>
            <a:ext cx="60960" cy="11948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3" name="Text 111"/>
          <p:cNvSpPr/>
          <p:nvPr/>
        </p:nvSpPr>
        <p:spPr>
          <a:xfrm>
            <a:off x="8875776" y="5571744"/>
            <a:ext cx="2974848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</a:t>
            </a:r>
            <a:endParaRPr lang="en-US" sz="1200"/>
          </a:p>
        </p:txBody>
      </p:sp>
      <p:sp>
        <p:nvSpPr>
          <p:cNvPr id="114" name="Text 112"/>
          <p:cNvSpPr/>
          <p:nvPr/>
        </p:nvSpPr>
        <p:spPr>
          <a:xfrm>
            <a:off x="8875776" y="5827776"/>
            <a:ext cx="2974848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667"/>
          </a:p>
        </p:txBody>
      </p:sp>
      <p:sp>
        <p:nvSpPr>
          <p:cNvPr id="115" name="Text 113"/>
          <p:cNvSpPr/>
          <p:nvPr/>
        </p:nvSpPr>
        <p:spPr>
          <a:xfrm>
            <a:off x="8875776" y="6388608"/>
            <a:ext cx="297484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debt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8224" y="195072"/>
            <a:ext cx="115824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268224" y="926592"/>
            <a:ext cx="1158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across profitability, efficiency, liquidity, and leverage</a:t>
            </a:r>
            <a:endParaRPr lang="en-US" sz="1533"/>
          </a:p>
        </p:txBody>
      </p:sp>
      <p:sp>
        <p:nvSpPr>
          <p:cNvPr id="5" name="Shape 3"/>
          <p:cNvSpPr/>
          <p:nvPr/>
        </p:nvSpPr>
        <p:spPr>
          <a:xfrm>
            <a:off x="268224" y="1304544"/>
            <a:ext cx="1165555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219456" y="1402080"/>
            <a:ext cx="5608320" cy="2499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219456" y="1402080"/>
            <a:ext cx="5608320" cy="365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365760" y="1414272"/>
            <a:ext cx="5413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733"/>
          </a:p>
        </p:txBody>
      </p:sp>
      <p:sp>
        <p:nvSpPr>
          <p:cNvPr id="9" name="Text 7"/>
          <p:cNvSpPr/>
          <p:nvPr/>
        </p:nvSpPr>
        <p:spPr>
          <a:xfrm>
            <a:off x="365760" y="1840992"/>
            <a:ext cx="536448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~58% historically — among the highest in specialty retail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declining 16.7% (2023) → 13.3% (2028E) as opex grows with global expansion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compressing 50.8% → 27.3% as equity base grows faster via retained earnings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declining 28.5% → 15.9% reflecting heavy asset investment in international stores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6169152" y="1402080"/>
            <a:ext cx="5608320" cy="2499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169152" y="1402080"/>
            <a:ext cx="5608320" cy="3657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315456" y="1414272"/>
            <a:ext cx="5413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733"/>
          </a:p>
        </p:txBody>
      </p:sp>
      <p:sp>
        <p:nvSpPr>
          <p:cNvPr id="13" name="Text 11"/>
          <p:cNvSpPr/>
          <p:nvPr/>
        </p:nvSpPr>
        <p:spPr>
          <a:xfrm>
            <a:off x="6315456" y="1840992"/>
            <a:ext cx="536448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4–5 days — near-zero, driven by the direct-to-consumer card-at-point-of-sale model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improving 132 → ~110 days, reflecting stronger inventory management over time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stabilizing 20–23 days — healthy supplier relationships without over-stretching payables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 declining as the asset base grows faster than revenue in expansion phase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19456" y="4084320"/>
            <a:ext cx="5608320" cy="2499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219456" y="4084320"/>
            <a:ext cx="560832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65760" y="4096512"/>
            <a:ext cx="5413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733"/>
          </a:p>
        </p:txBody>
      </p:sp>
      <p:sp>
        <p:nvSpPr>
          <p:cNvPr id="17" name="Text 15"/>
          <p:cNvSpPr/>
          <p:nvPr/>
        </p:nvSpPr>
        <p:spPr>
          <a:xfrm>
            <a:off x="365760" y="4523232"/>
            <a:ext cx="536448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consistently above 2.0x — strong ability to meet near-term obligations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 above 1.3x even after excluding inventory, confirming robust liquid position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growing $1.15B (2023) → $2.85B (2028E), fully self-funded from operations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reliance on short-term debt — operating cash flows comfortably exceed capex needs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169152" y="4084320"/>
            <a:ext cx="5608320" cy="2499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169152" y="4084320"/>
            <a:ext cx="560832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315456" y="4096512"/>
            <a:ext cx="5413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733"/>
          </a:p>
        </p:txBody>
      </p:sp>
      <p:sp>
        <p:nvSpPr>
          <p:cNvPr id="21" name="Text 19"/>
          <p:cNvSpPr/>
          <p:nvPr/>
        </p:nvSpPr>
        <p:spPr>
          <a:xfrm>
            <a:off x="6315456" y="4523232"/>
            <a:ext cx="536448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traditional long-term debt — interest coverage ratio is not applicable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leverage ~1.7x driven entirely by operating lease liabilities, not financial debt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obligations growing as store footprint expands internationally, especially in China</a:t>
            </a:r>
            <a:endParaRPr lang="en-US" sz="140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capital structure provides resilience and flexibility against macro downturns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42B82-5FC8-7CA6-3CFB-8140122C2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373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0EC82FAE-A01A-45E4-B7E9-BD4554A79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0E2EC-A0BC-2952-B52A-F1FCD606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14361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1901-5149-D48F-D421-FE030AE5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5A5A2-A5C0-15D4-CEDA-E71CB3090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>
                <a:hlinkClick r:id="rId2"/>
              </a:rPr>
              <a:t>https://corporate.lululemon.com/~/media/Files/L/Lululemon/investors/annual-reports/lululemon-2024-annual-report.pdf</a:t>
            </a:r>
            <a:endParaRPr lang="en-US" sz="1400"/>
          </a:p>
          <a:p>
            <a:r>
              <a:rPr lang="en-US" sz="1400">
                <a:hlinkClick r:id="rId3"/>
              </a:rPr>
              <a:t>https://corporate.lululemon.com/investors/financial-information/annual-reports</a:t>
            </a:r>
            <a:endParaRPr lang="en-US" sz="1400"/>
          </a:p>
          <a:p>
            <a:r>
              <a:rPr lang="en-US" sz="1400">
                <a:hlinkClick r:id="rId4"/>
              </a:rPr>
              <a:t>https://corporate.lululemon.com/investors/financial-information/results-center</a:t>
            </a:r>
            <a:endParaRPr lang="en-US" sz="1400"/>
          </a:p>
          <a:p>
            <a:r>
              <a:rPr lang="en-US" sz="1400">
                <a:hlinkClick r:id="rId5"/>
              </a:rPr>
              <a:t>https://corporate.lululemon.com/investors</a:t>
            </a:r>
            <a:endParaRPr lang="en-US" sz="1400"/>
          </a:p>
          <a:p>
            <a:r>
              <a:rPr lang="en-US" sz="1400">
                <a:hlinkClick r:id="rId6"/>
              </a:rPr>
              <a:t>https://www.sec.gov/Archives/edgar/data/1397187/000139718724000010/lulu-20240128.htm</a:t>
            </a:r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0AE200F2C8444DBDB0C245F472532B" ma:contentTypeVersion="8" ma:contentTypeDescription="Create a new document." ma:contentTypeScope="" ma:versionID="658613210b434c017aaaaebaf4046dd8">
  <xsd:schema xmlns:xsd="http://www.w3.org/2001/XMLSchema" xmlns:xs="http://www.w3.org/2001/XMLSchema" xmlns:p="http://schemas.microsoft.com/office/2006/metadata/properties" xmlns:ns3="93d0ef65-fd5a-4d5d-afa6-3091fc12ff9c" xmlns:ns4="381e2702-b64c-4366-a66a-cd3eb1b48cf1" targetNamespace="http://schemas.microsoft.com/office/2006/metadata/properties" ma:root="true" ma:fieldsID="d87deb2c002075af9894f63866d94ef7" ns3:_="" ns4:_="">
    <xsd:import namespace="93d0ef65-fd5a-4d5d-afa6-3091fc12ff9c"/>
    <xsd:import namespace="381e2702-b64c-4366-a66a-cd3eb1b48c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0ef65-fd5a-4d5d-afa6-3091fc12f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1e2702-b64c-4366-a66a-cd3eb1b48cf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d0ef65-fd5a-4d5d-afa6-3091fc12ff9c" xsi:nil="true"/>
  </documentManagement>
</p:properties>
</file>

<file path=customXml/itemProps1.xml><?xml version="1.0" encoding="utf-8"?>
<ds:datastoreItem xmlns:ds="http://schemas.openxmlformats.org/officeDocument/2006/customXml" ds:itemID="{2C9E6B4C-AAE8-445A-B798-DB99F228B8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B67F50-8C91-446F-B9F4-FA7A9F492657}">
  <ds:schemaRefs>
    <ds:schemaRef ds:uri="381e2702-b64c-4366-a66a-cd3eb1b48cf1"/>
    <ds:schemaRef ds:uri="93d0ef65-fd5a-4d5d-afa6-3091fc12ff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8BA4966-2143-4DAB-8EB4-4F18826B3134}">
  <ds:schemaRefs>
    <ds:schemaRef ds:uri="93d0ef65-fd5a-4d5d-afa6-3091fc12ff9c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LuLuLemon</vt:lpstr>
      <vt:lpstr>Agenda</vt:lpstr>
      <vt:lpstr>Historical Income Statement</vt:lpstr>
      <vt:lpstr>Revenue Drivers &amp; Assumptions</vt:lpstr>
      <vt:lpstr> Income Statement Assumptions </vt:lpstr>
      <vt:lpstr>Projected Income Statement </vt:lpstr>
      <vt:lpstr>Projected Income Statement</vt:lpstr>
      <vt:lpstr>Historical Balance Sheet (In $ Millions)</vt:lpstr>
      <vt:lpstr>Projected Balance Sheet (In $ Millions)</vt:lpstr>
      <vt:lpstr>Asset Drivers &amp; Projection Assumptions</vt:lpstr>
      <vt:lpstr> Liabilities and Equity Drivers &amp; Projection Assumptions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Questions?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LuLuLemon</dc:title>
  <dc:creator>Wang, Austin Matthew</dc:creator>
  <cp:revision>4</cp:revision>
  <dcterms:created xsi:type="dcterms:W3CDTF">2026-03-29T21:39:41Z</dcterms:created>
  <dcterms:modified xsi:type="dcterms:W3CDTF">2026-04-07T19:50:54Z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0x0101006C0AE200F2C8444DBDB0C245F472532B</vt:lpwstr>
  </property>
</Properties>
</file>